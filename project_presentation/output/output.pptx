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d6cfc8a0254815" /><Relationship Type="http://schemas.openxmlformats.org/officeDocument/2006/relationships/extended-properties" Target="/docProps/app.xml" Id="R0e7e37e045ac40e9" /><Relationship Type="http://schemas.openxmlformats.org/officeDocument/2006/relationships/officeDocument" Target="/ppt/presentation.xml" Id="R09bad2166ace44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b43a04eac94fde"/>
  </p:sldMasterIdLst>
  <p:notesMasterIdLst>
    <p:notesMasterId xmlns:r="http://schemas.openxmlformats.org/officeDocument/2006/relationships" r:id="R71b5087fb8a24d9d"/>
  </p:notesMasterIdLst>
  <p:sldIdLst>
    <p:sldId xmlns:r="http://schemas.openxmlformats.org/officeDocument/2006/relationships" id="256" r:id="R953fc09375aa405c"/>
    <p:sldId xmlns:r="http://schemas.openxmlformats.org/officeDocument/2006/relationships" id="257" r:id="Ra6d7f8d4344c4231"/>
    <p:sldId xmlns:r="http://schemas.openxmlformats.org/officeDocument/2006/relationships" id="258" r:id="Rd88f19b0e5dd4b41"/>
    <p:sldId xmlns:r="http://schemas.openxmlformats.org/officeDocument/2006/relationships" id="259" r:id="R1cd21f5fd8ae4664"/>
    <p:sldId xmlns:r="http://schemas.openxmlformats.org/officeDocument/2006/relationships" id="260" r:id="R0eb3427278c94f68"/>
    <p:sldId xmlns:r="http://schemas.openxmlformats.org/officeDocument/2006/relationships" id="261" r:id="R7e8f6b7127594dd5"/>
    <p:sldId xmlns:r="http://schemas.openxmlformats.org/officeDocument/2006/relationships" id="262" r:id="R11b1975a65fc4081"/>
    <p:sldId xmlns:r="http://schemas.openxmlformats.org/officeDocument/2006/relationships" id="263" r:id="R15a0cd0010604794"/>
    <p:sldId xmlns:r="http://schemas.openxmlformats.org/officeDocument/2006/relationships" id="264" r:id="Rb572fa16f3c44e92"/>
    <p:sldId xmlns:r="http://schemas.openxmlformats.org/officeDocument/2006/relationships" id="265" r:id="R38755642ea2b48a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43a04eac94fde" /><Relationship Type="http://schemas.openxmlformats.org/officeDocument/2006/relationships/theme" Target="/ppt/theme/theme1.xml" Id="R71e6045b7e3a4ed8" /><Relationship Type="http://schemas.openxmlformats.org/officeDocument/2006/relationships/notesMaster" Target="/ppt/notesMasters/notesMaster1.xml" Id="R71b5087fb8a24d9d" /><Relationship Type="http://schemas.openxmlformats.org/officeDocument/2006/relationships/presProps" Target="/ppt/presProps.xml" Id="Rb4e068bb77bf4f7f" /><Relationship Type="http://schemas.openxmlformats.org/officeDocument/2006/relationships/viewProps" Target="/ppt/viewProps.xml" Id="R1605a2e43d8e4318" /><Relationship Type="http://schemas.openxmlformats.org/officeDocument/2006/relationships/tableStyles" Target="/ppt/tableStyles.xml" Id="R98f16b5d387549c3" /><Relationship Type="http://schemas.openxmlformats.org/officeDocument/2006/relationships/slide" Target="/ppt/slides/slide1.xml" Id="R953fc09375aa405c" /><Relationship Type="http://schemas.openxmlformats.org/officeDocument/2006/relationships/slide" Target="/ppt/slides/slide2.xml" Id="Ra6d7f8d4344c4231" /><Relationship Type="http://schemas.openxmlformats.org/officeDocument/2006/relationships/slide" Target="/ppt/slides/slide3.xml" Id="Rd88f19b0e5dd4b41" /><Relationship Type="http://schemas.openxmlformats.org/officeDocument/2006/relationships/slide" Target="/ppt/slides/slide4.xml" Id="R1cd21f5fd8ae4664" /><Relationship Type="http://schemas.openxmlformats.org/officeDocument/2006/relationships/slide" Target="/ppt/slides/slide5.xml" Id="R0eb3427278c94f68" /><Relationship Type="http://schemas.openxmlformats.org/officeDocument/2006/relationships/slide" Target="/ppt/slides/slide6.xml" Id="R7e8f6b7127594dd5" /><Relationship Type="http://schemas.openxmlformats.org/officeDocument/2006/relationships/slide" Target="/ppt/slides/slide7.xml" Id="R11b1975a65fc4081" /><Relationship Type="http://schemas.openxmlformats.org/officeDocument/2006/relationships/slide" Target="/ppt/slides/slide8.xml" Id="R15a0cd0010604794" /><Relationship Type="http://schemas.openxmlformats.org/officeDocument/2006/relationships/slide" Target="/ppt/slides/slide9.xml" Id="Rb572fa16f3c44e92" /><Relationship Type="http://schemas.openxmlformats.org/officeDocument/2006/relationships/slide" Target="/ppt/slides/slide10.xml" Id="R38755642ea2b48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62c631ddfb245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8750c64e834cd9" /><Relationship Type="http://schemas.openxmlformats.org/officeDocument/2006/relationships/notesMaster" Target="/ppt/notesMasters/notesMaster1.xml" Id="R8c43c8f384dc41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66a5ec8b934610" /><Relationship Type="http://schemas.openxmlformats.org/officeDocument/2006/relationships/notesMaster" Target="/ppt/notesMasters/notesMaster1.xml" Id="R1d44b20389dd48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70dcaf488b4cec" /><Relationship Type="http://schemas.openxmlformats.org/officeDocument/2006/relationships/notesMaster" Target="/ppt/notesMasters/notesMaster1.xml" Id="Re426eb70e2f94b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0964ad0a1b48cc" /><Relationship Type="http://schemas.openxmlformats.org/officeDocument/2006/relationships/notesMaster" Target="/ppt/notesMasters/notesMaster1.xml" Id="R315b75ae8fb746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c0a71833f84a19" /><Relationship Type="http://schemas.openxmlformats.org/officeDocument/2006/relationships/notesMaster" Target="/ppt/notesMasters/notesMaster1.xml" Id="Ra2c071a8ead74b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22c753681e4f0e" /><Relationship Type="http://schemas.openxmlformats.org/officeDocument/2006/relationships/notesMaster" Target="/ppt/notesMasters/notesMaster1.xml" Id="R5f47863f49714f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dcb8ffc11b4014" /><Relationship Type="http://schemas.openxmlformats.org/officeDocument/2006/relationships/notesMaster" Target="/ppt/notesMasters/notesMaster1.xml" Id="R624a60a8859c4e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923d495fd34ca3" /><Relationship Type="http://schemas.openxmlformats.org/officeDocument/2006/relationships/notesMaster" Target="/ppt/notesMasters/notesMaster1.xml" Id="R7ac3762df3e740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842480dd8d4eae" /><Relationship Type="http://schemas.openxmlformats.org/officeDocument/2006/relationships/notesMaster" Target="/ppt/notesMasters/notesMaster1.xml" Id="R7622d53b35de49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e26c57ba8545ab" /><Relationship Type="http://schemas.openxmlformats.org/officeDocument/2006/relationships/notesMaster" Target="/ppt/notesMasters/notesMaster1.xml" Id="R29c97a0ecbd146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7820c9ad1435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7a46f01271c46e8" /><Relationship Type="http://schemas.openxmlformats.org/officeDocument/2006/relationships/slideLayout" Target="/ppt/slideLayouts/slideLayout2.xml" Id="R1fada3a7200d41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ada3a7200d41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6e367142c8411a" /><Relationship Type="http://schemas.openxmlformats.org/officeDocument/2006/relationships/notesSlide" Target="/ppt/notesSlides/notesSlide1.xml" Id="R0a9cfca9e76343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ef12a0dc774535" /><Relationship Type="http://schemas.openxmlformats.org/officeDocument/2006/relationships/notesSlide" Target="/ppt/notesSlides/notesSlide2.xml" Id="R72aeb013cb6642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7102e374204886" /><Relationship Type="http://schemas.openxmlformats.org/officeDocument/2006/relationships/notesSlide" Target="/ppt/notesSlides/notesSlide3.xml" Id="Raa65cb580df341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fc20e940834d50" /><Relationship Type="http://schemas.openxmlformats.org/officeDocument/2006/relationships/notesSlide" Target="/ppt/notesSlides/notesSlide4.xml" Id="R355febb70fe446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b080e8eee54339" /><Relationship Type="http://schemas.openxmlformats.org/officeDocument/2006/relationships/notesSlide" Target="/ppt/notesSlides/notesSlide5.xml" Id="Rd3296ea340024c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fcac6258ab4974" /><Relationship Type="http://schemas.openxmlformats.org/officeDocument/2006/relationships/notesSlide" Target="/ppt/notesSlides/notesSlide6.xml" Id="R2fefe6d4fc3a4a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1be48d24b5457b" /><Relationship Type="http://schemas.openxmlformats.org/officeDocument/2006/relationships/notesSlide" Target="/ppt/notesSlides/notesSlide7.xml" Id="Rf9cf8e74d5e84e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99d2db6abf4ade" /><Relationship Type="http://schemas.openxmlformats.org/officeDocument/2006/relationships/notesSlide" Target="/ppt/notesSlides/notesSlide8.xml" Id="Re4bfed3f68c04c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66304cead345a9" /><Relationship Type="http://schemas.openxmlformats.org/officeDocument/2006/relationships/notesSlide" Target="/ppt/notesSlides/notesSlide9.xml" Id="R453c5d43115a41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161254b22d4e6c" /><Relationship Type="http://schemas.openxmlformats.org/officeDocument/2006/relationships/notesSlide" Target="/ppt/notesSlides/notesSlide10.xml" Id="Rbc2708f823f4482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ge">
            <a:extLst xmlns:a="http://schemas.openxmlformats.org/drawingml/2006/main">
              <a:ext uri="{FF2B5EF4-FFF2-40B4-BE49-F238E27FC236}">
                <a16:creationId xmlns:a16="http://schemas.microsoft.com/office/drawing/2014/main" id="{1B66197D-00CD-494D-A717-C35DFE2B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2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B67D8-1E64-4CE5-ACDC-3C60C7C8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10896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4FA39B"/>
                </a:solidFill>
              </a:defRPr>
            </a:pPr>
            <a:r>
              <a:rPr sz="1800" b="1" i="0">
                <a:solidFill>
                  <a:srgbClr val="4FA39B"/>
                </a:solidFill>
              </a:rPr>
              <a:t>Python + Streamlit + DuckDB + Parquet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DB449-CD81-4FF7-8A36-BF054749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 i="0">
                <a:solidFill>
                  <a:srgbClr val="FFFFFF"/>
                </a:solidFill>
              </a:defRPr>
            </a:pPr>
            <a:r>
              <a:rPr sz="585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3AA03-13A8-4A93-B347-700912DD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 i="0">
                <a:solidFill>
                  <a:srgbClr val="FFFFFF"/>
                </a:solidFill>
              </a:defRPr>
            </a:pPr>
            <a:r>
              <a:rPr sz="5850" b="1" i="0">
                <a:solidFill>
                  <a:srgbClr val="FFFFFF"/>
                </a:solidFill>
              </a:rPr>
              <a:t>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55DF0-DCD2-4C78-9939-5E9A60D9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 i="0">
                <a:solidFill>
                  <a:srgbClr val="FFFFFF"/>
                </a:solidFill>
              </a:defRPr>
            </a:pPr>
            <a:r>
              <a:rPr sz="5850" b="1" i="0">
                <a:solidFill>
                  <a:srgbClr val="FFFFFF"/>
                </a:solidFill>
              </a:rPr>
              <a:t>Tool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C536E-BCEA-4AB1-B27F-4B8D7799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198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F3B2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70F06-EBFF-485A-9893-C6E87965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43700"/>
            <a:ext cx="897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D8ECE8"/>
                </a:solidFill>
              </a:defRPr>
            </a:pPr>
            <a:r>
              <a:rPr sz="2550" b="0" i="0">
                <a:solidFill>
                  <a:srgbClr val="D8ECE8"/>
                </a:solidFill>
              </a:rPr>
              <a:t>A Streamlit application for comparing exported datasets when direct database access is not available.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EBA57-0A89-475B-A3D4-D9C9E6F5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8575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23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20A98-F06F-4D82-8E99-3F916CBD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067050"/>
            <a:ext cx="4457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C93E2-9BEC-4E49-98F5-84A3086E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9052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34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72A65-5BAB-45F6-95E8-4E03D7D7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114800"/>
            <a:ext cx="4457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Map fields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3C4EA-0197-4052-9ECC-8F770B58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49530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65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A0C39-50C5-4C23-B305-A6D6188D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162550"/>
            <a:ext cx="4457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Compare with DuckDB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0D666-2A16-4632-A7B2-CFB8257E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0007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06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D7FCF-4C31-4831-A222-A706D722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210300"/>
            <a:ext cx="4457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Export Excel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01797-4A4C-4ED1-8FC6-4EAAF332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72600"/>
            <a:ext cx="16459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A7C7C3"/>
                </a:solidFill>
              </a:defRPr>
            </a:pPr>
            <a:r>
              <a:rPr sz="1500" b="0" i="0">
                <a:solidFill>
                  <a:srgbClr val="A7C7C3"/>
                </a:solidFill>
              </a:rPr>
              <a:t>ICT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5391177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ge">
            <a:extLst xmlns:a="http://schemas.openxmlformats.org/drawingml/2006/main">
              <a:ext uri="{FF2B5EF4-FFF2-40B4-BE49-F238E27FC236}">
                <a16:creationId xmlns:a16="http://schemas.microsoft.com/office/drawing/2014/main" id="{6AB0C565-D39B-44C1-BF70-1D87689A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44E6B-B3D1-49F9-9F42-8D8BB6D2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What Is the Project?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EE06E-2F95-45A0-9EB9-F8DEE7D7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9791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2616B"/>
                </a:solidFill>
              </a:defRPr>
            </a:pPr>
            <a:r>
              <a:rPr sz="1875" b="0" i="0">
                <a:solidFill>
                  <a:srgbClr val="52616B"/>
                </a:solidFill>
              </a:rPr>
              <a:t>The tool helps validate whether two exported datasets contain the same business records and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5EE18-D152-4BC2-A703-292228D3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4627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1311D-EDB1-4469-9AB7-5459C590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38650"/>
            <a:ext cx="10248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Upload two datasets in CSV, JSON, or Excel format.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BB119-73AD-404F-8BA6-DCBF28ED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5587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3F1FE-624B-4804-840E-E46B2015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10248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Preview data safely before full comparison.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00D93-4598-44FA-B2B9-E5D707FC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6547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9B6D6-8067-4215-80F1-9B8EDD7D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57850"/>
            <a:ext cx="10248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Map different field names between systems.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B464E-452B-4A7D-A660-C3DDAB8A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7507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F678C-969D-4649-9D49-CE59E2DE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267450"/>
            <a:ext cx="10248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Compare records using selected key fields.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29D87-3EBE-4CF0-8B68-E04C5FAE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8467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3DEC9-3D5B-44F2-A227-7D881EEE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877050"/>
            <a:ext cx="10248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Download comparison results as an Excel report.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B7AB7-6487-44E8-B4CD-B43CEBA3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072640"/>
            <a:ext cx="5334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E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65E9D-0388-402D-9FCD-B97319DB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914650"/>
            <a:ext cx="4686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0E5C5A"/>
                </a:solidFill>
              </a:defRPr>
            </a:pPr>
            <a:r>
              <a:rPr sz="4350" b="1" i="0">
                <a:solidFill>
                  <a:srgbClr val="0E5C5A"/>
                </a:solidFill>
              </a:rPr>
              <a:t>CSV / JSON / Excel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358F6-4345-402F-B336-9A92CFCA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657600"/>
            <a:ext cx="4686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Input formats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E2AB9-FC58-437B-9F76-3DB801AC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057650"/>
            <a:ext cx="468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solidFill>
              <a:srgbClr val="CBD5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7E592-CFE0-4031-A37F-3B328003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248150"/>
            <a:ext cx="4686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2563EB"/>
                </a:solidFill>
              </a:defRPr>
            </a:pPr>
            <a:r>
              <a:rPr sz="4350" b="1" i="0">
                <a:solidFill>
                  <a:srgbClr val="2563EB"/>
                </a:solidFill>
              </a:rPr>
              <a:t>CSV -&gt; Parquet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97908-B5B1-40D5-9BE5-7EB12A0C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991100"/>
            <a:ext cx="4686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Processing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042ADB-241D-49E0-A160-23DDF365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410200"/>
            <a:ext cx="468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solidFill>
              <a:srgbClr val="CBD5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3A21E0-6B49-4205-BE3E-3CE0A365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600700"/>
            <a:ext cx="4686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E76F51"/>
                </a:solidFill>
              </a:defRPr>
            </a:pPr>
            <a:r>
              <a:rPr sz="4350" b="1" i="0">
                <a:solidFill>
                  <a:srgbClr val="E76F51"/>
                </a:solidFill>
              </a:rPr>
              <a:t>Excel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F52F7-698B-4961-9D8F-FADA9DF0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324600"/>
            <a:ext cx="4686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5070571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ge">
            <a:extLst xmlns:a="http://schemas.openxmlformats.org/drawingml/2006/main">
              <a:ext uri="{FF2B5EF4-FFF2-40B4-BE49-F238E27FC236}">
                <a16:creationId xmlns:a16="http://schemas.microsoft.com/office/drawing/2014/main" id="{4FED3C81-82B9-4B00-AE2B-2ADB10A0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D7FF4-DAEE-4172-A0A3-1E059F8B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Tools 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A5FE2-7CED-421B-8380-F293CA01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8553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2616B"/>
                </a:solidFill>
              </a:defRPr>
            </a:pPr>
            <a:r>
              <a:rPr sz="1875" b="0" i="0">
                <a:solidFill>
                  <a:srgbClr val="52616B"/>
                </a:solidFill>
              </a:rPr>
              <a:t>The project used lightweight tools suitable for a small data application and study project.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D8B49-8DD9-426B-95AA-51262E38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8020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2563EB"/>
                </a:solidFill>
              </a:defRPr>
            </a:pPr>
            <a:r>
              <a:rPr sz="4350" b="1" i="0">
                <a:solidFill>
                  <a:srgbClr val="2563EB"/>
                </a:solidFill>
              </a:rPr>
              <a:t>VS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FD180-60E1-4BB0-A97D-6551462C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802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3D291-B35C-4ACD-B89C-75C7E75E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8020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0E5C5A"/>
                </a:solidFill>
              </a:defRPr>
            </a:pPr>
            <a:r>
              <a:rPr sz="4350" b="1" i="0">
                <a:solidFill>
                  <a:srgbClr val="0E5C5A"/>
                </a:solidFill>
              </a:rPr>
              <a:t>Git + GitHub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82DC7-C78F-40C3-98F8-0285277C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802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Version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6D559-DC5D-4C45-9FF7-CE169DF5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8020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E76F51"/>
                </a:solidFill>
              </a:defRPr>
            </a:pPr>
            <a:r>
              <a:rPr sz="4350" b="1" i="0">
                <a:solidFill>
                  <a:srgbClr val="E76F51"/>
                </a:solidFill>
              </a:rPr>
              <a:t>README + Markdown 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FC9DC-C8EC-415B-8EC9-8AB23321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86550"/>
            <a:ext cx="802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Project documentation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FF427-9C20-4706-935C-76C933FC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62800"/>
            <a:ext cx="8020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3B23C"/>
                </a:solidFill>
              </a:defRPr>
            </a:pPr>
            <a:r>
              <a:rPr sz="4350" b="1" i="0">
                <a:solidFill>
                  <a:srgbClr val="F3B23C"/>
                </a:solidFill>
              </a:rPr>
              <a:t>Codex, supervised 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FFD64-1F8C-4E6F-AE2B-E569C798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05750"/>
            <a:ext cx="802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AI agents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F7A54-439E-42D8-A787-D8EABA6C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33850"/>
            <a:ext cx="8020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0E5C5A"/>
                </a:solidFill>
              </a:defRPr>
            </a:pPr>
            <a:r>
              <a:rPr sz="4350" b="1" i="0">
                <a:solidFill>
                  <a:srgbClr val="0E5C5A"/>
                </a:solidFill>
              </a:rPr>
              <a:t>Streamlit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B021F-19A8-49C6-AEB0-9E6A3BB5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76800"/>
            <a:ext cx="802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5B481-1443-4F61-98C9-EC979AD0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353050"/>
            <a:ext cx="8020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2563EB"/>
                </a:solidFill>
              </a:defRPr>
            </a:pPr>
            <a:r>
              <a:rPr sz="4350" b="1" i="0">
                <a:solidFill>
                  <a:srgbClr val="2563EB"/>
                </a:solidFill>
              </a:rPr>
              <a:t>Pandas + OpenPyXL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C6981-6184-43A5-BAF3-14C2F157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096000"/>
            <a:ext cx="802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Data handling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323BD-B2BA-4BC3-BACE-8CEA71DA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553200"/>
            <a:ext cx="8020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E76F51"/>
                </a:solidFill>
              </a:defRPr>
            </a:pPr>
            <a:r>
              <a:rPr sz="4350" b="1" i="0">
                <a:solidFill>
                  <a:srgbClr val="E76F51"/>
                </a:solidFill>
              </a:rPr>
              <a:t>DuckDB + Parquet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38518-F816-4F3A-89AA-57487861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296150"/>
            <a:ext cx="802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Large-file engine</a:t>
            </a:r>
          </a:p>
        </p:txBody>
      </p:sp>
    </p:spTree>
    <p:extLst>
      <p:ext uri="{BB962C8B-B14F-4D97-AF65-F5344CB8AC3E}">
        <p14:creationId xmlns:p14="http://schemas.microsoft.com/office/powerpoint/2010/main" val="11947601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ge">
            <a:extLst xmlns:a="http://schemas.openxmlformats.org/drawingml/2006/main">
              <a:ext uri="{FF2B5EF4-FFF2-40B4-BE49-F238E27FC236}">
                <a16:creationId xmlns:a16="http://schemas.microsoft.com/office/drawing/2014/main" id="{8B06EDE6-8B6A-4B70-B34F-D47A4C87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B7298-5BAF-478A-B91B-9E2A08A7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Agile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3782D-4C7E-4662-A095-CA1649D8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1038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2616B"/>
                </a:solidFill>
              </a:defRPr>
            </a:pPr>
            <a:r>
              <a:rPr sz="1875" b="0" i="0">
                <a:solidFill>
                  <a:srgbClr val="52616B"/>
                </a:solidFill>
              </a:rPr>
              <a:t>I used a simple Kanban-style iterative approach: each feature was built, tested, corrected, and documented.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A5BE5-F5D2-40F1-991A-D610F0A9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3360"/>
            <a:ext cx="5372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80545-E4E0-4176-9299-B8457DDD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481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1B105-D9FE-417E-A487-C164F419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17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1B5D6-5555-4F78-9FF6-E526D2B1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00550"/>
            <a:ext cx="4438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Input formats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0E905-DBE0-45A5-8F8B-24F1C228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05350"/>
            <a:ext cx="443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2616B"/>
                </a:solidFill>
              </a:defRPr>
            </a:pPr>
            <a:r>
              <a:rPr sz="1275" b="0" i="0">
                <a:solidFill>
                  <a:srgbClr val="52616B"/>
                </a:solidFill>
              </a:rPr>
              <a:t>Added CSV, JSON, and Excel upload.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E6DC1-7C41-47C6-9E7C-BF00A36F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23360"/>
            <a:ext cx="5372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AEDCC-767F-4D0C-B76A-9131FC45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9481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5C5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3CECA-95AC-4BFC-BB37-F759F17D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86250"/>
            <a:ext cx="17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30D9F-E077-49E7-BE4C-D91F9060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00550"/>
            <a:ext cx="4438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Settings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B005E-EF15-454B-928D-9A5D39D3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05350"/>
            <a:ext cx="443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2616B"/>
                </a:solidFill>
              </a:defRPr>
            </a:pPr>
            <a:r>
              <a:rPr sz="1275" b="0" i="0">
                <a:solidFill>
                  <a:srgbClr val="52616B"/>
                </a:solidFill>
              </a:rPr>
              <a:t>Saved and restored field mappings as JSON.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6D63B-82E0-4FF4-AA23-DC5E1EBF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023360"/>
            <a:ext cx="5372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4FDA5-87D0-4B21-A6E0-B80F9E67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19481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23C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08583-FC5A-41E1-8096-35152179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286250"/>
            <a:ext cx="17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CD831-BC8D-4239-A8B0-E1836326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4400550"/>
            <a:ext cx="4438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Comparison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B9C55-A4FD-42CC-BC03-B4C7C3AF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4705350"/>
            <a:ext cx="443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2616B"/>
                </a:solidFill>
              </a:defRPr>
            </a:pPr>
            <a:r>
              <a:rPr sz="1275" b="0" i="0">
                <a:solidFill>
                  <a:srgbClr val="52616B"/>
                </a:solidFill>
              </a:rPr>
              <a:t>Added DuckDB and Parquet processing.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ABFC8-FA5E-4E1F-8668-37A7A69E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8310"/>
            <a:ext cx="5372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78D77-9FEA-4A72-97F7-C4FD949B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9976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A2F90-8CB7-4F06-A2F7-2586F412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91200"/>
            <a:ext cx="17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B8108A-339D-4C4C-B236-D7D326FB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05500"/>
            <a:ext cx="4438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Export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D6D6B7-84E8-4868-94AC-A79A0AD3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210300"/>
            <a:ext cx="443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2616B"/>
                </a:solidFill>
              </a:defRPr>
            </a:pPr>
            <a:r>
              <a:rPr sz="1275" b="0" i="0">
                <a:solidFill>
                  <a:srgbClr val="52616B"/>
                </a:solidFill>
              </a:rPr>
              <a:t>Added Excel download for comparison results.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D2CB17-82DA-4A12-ABAE-C223E8B6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8310"/>
            <a:ext cx="5372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78DB63-D6B1-4D80-9E97-88E7C483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69976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23C0FB-6DF7-427B-A3F3-03FD3C2B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791200"/>
            <a:ext cx="17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38F4FB-7BC9-4817-9971-20A3ABAE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905500"/>
            <a:ext cx="4438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Fixes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D39185-6A87-4B69-BF97-72CFF6C3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210300"/>
            <a:ext cx="443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2616B"/>
                </a:solidFill>
              </a:defRPr>
            </a:pPr>
            <a:r>
              <a:rPr sz="1275" b="0" i="0">
                <a:solidFill>
                  <a:srgbClr val="52616B"/>
                </a:solidFill>
              </a:rPr>
              <a:t>Corrected errors found during testing.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193E80-0E10-4766-B5F2-A0C52488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528310"/>
            <a:ext cx="5372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13D681-7F3A-4753-8CB7-E651E030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69976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24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13B405-90CF-4488-8FE5-CC5B558D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791200"/>
            <a:ext cx="17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BBAFDF-68A4-4148-A7B9-8988300F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5905500"/>
            <a:ext cx="4438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Docs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813F94-A1E1-4B93-9055-D440F8B4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6210300"/>
            <a:ext cx="443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2616B"/>
                </a:solidFill>
              </a:defRPr>
            </a:pPr>
            <a:r>
              <a:rPr sz="1275" b="0" i="0">
                <a:solidFill>
                  <a:srgbClr val="52616B"/>
                </a:solidFill>
              </a:rPr>
              <a:t>Updated README, PDF design document, and slides.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E026AC-91EE-4EF2-B3E7-4949A1E3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11696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52616B"/>
                </a:solidFill>
              </a:defRPr>
            </a:pPr>
            <a:r>
              <a:rPr sz="2025" b="0" i="0">
                <a:solidFill>
                  <a:srgbClr val="52616B"/>
                </a:solidFill>
              </a:rPr>
              <a:t>The method was practical: every increment produced a visible product change that could be tested immediately.</a:t>
            </a:r>
          </a:p>
        </p:txBody>
      </p:sp>
    </p:spTree>
    <p:extLst>
      <p:ext uri="{BB962C8B-B14F-4D97-AF65-F5344CB8AC3E}">
        <p14:creationId xmlns:p14="http://schemas.microsoft.com/office/powerpoint/2010/main" val="15392076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ge">
            <a:extLst xmlns:a="http://schemas.openxmlformats.org/drawingml/2006/main">
              <a:ext uri="{FF2B5EF4-FFF2-40B4-BE49-F238E27FC236}">
                <a16:creationId xmlns:a16="http://schemas.microsoft.com/office/drawing/2014/main" id="{ACA90D19-A470-44BB-97CE-60766E5C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896CB-2385-4268-91C7-9E5D9DBF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Time Usage During the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FB395-3AEA-4546-B69C-EBBF44E9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9315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2616B"/>
                </a:solidFill>
              </a:defRPr>
            </a:pPr>
            <a:r>
              <a:rPr sz="1875" b="0" i="0">
                <a:solidFill>
                  <a:srgbClr val="52616B"/>
                </a:solidFill>
              </a:rPr>
              <a:t>The work was split into short development stages. The bars show relative effort, not exact hours.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7F038-2523-4BFB-8DD7-5CC50958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11827"/>
                </a:solidFill>
              </a:defRPr>
            </a:pPr>
            <a:r>
              <a:rPr sz="1950" b="1" i="0">
                <a:solidFill>
                  <a:srgbClr val="111827"/>
                </a:solidFill>
              </a:rPr>
              <a:t>Planning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E3C02-2925-4BC3-940A-C2C8542A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31895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C5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EA6E6-2C59-43EB-A51F-8388607C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33800"/>
            <a:ext cx="571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Project plan, scope, and next steps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E788D-F795-4130-BFED-DBB21D0E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11827"/>
                </a:solidFill>
              </a:defRPr>
            </a:pPr>
            <a:r>
              <a:rPr sz="1950" b="1" i="0">
                <a:solidFill>
                  <a:srgbClr val="111827"/>
                </a:solidFill>
              </a:rPr>
              <a:t>MVP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E1655-8F83-4359-BB7A-94CBC133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0819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389CB-012E-4848-AA01-2381006B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610100"/>
            <a:ext cx="571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Upload, preview, and key selection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FE4C9-0337-4E08-B18D-C4868EE4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11827"/>
                </a:solidFill>
              </a:defRPr>
            </a:pPr>
            <a:r>
              <a:rPr sz="1950" b="1" i="0">
                <a:solidFill>
                  <a:srgbClr val="111827"/>
                </a:solidFill>
              </a:rPr>
              <a:t>Mapping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5A2B5-C5B5-4A27-82DD-27CA3BCF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8449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9EFFE-D103-47CE-80C0-D89DE0FF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86400"/>
            <a:ext cx="571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Field mapping and JSON save/restore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0668A-CD0A-4B22-9135-58BD1772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6270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11827"/>
                </a:solidFill>
              </a:defRPr>
            </a:pPr>
            <a:r>
              <a:rPr sz="1950" b="1" i="0">
                <a:solidFill>
                  <a:srgbClr val="111827"/>
                </a:solidFill>
              </a:rPr>
              <a:t>Data 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BC262-A789-4E08-8998-0454AB46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360795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23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70FB8-0486-4F15-B458-D0AD82B6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571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DuckDB, Parquet, JSON, and Excel input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DEF64-94B4-4827-ADAC-ED25C655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11827"/>
                </a:solidFill>
              </a:defRPr>
            </a:pPr>
            <a:r>
              <a:rPr sz="1950" b="1" i="0">
                <a:solidFill>
                  <a:srgbClr val="111827"/>
                </a:solidFill>
              </a:rPr>
              <a:t>Reporting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F9C07-F646-4D6F-B5E3-28097520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237095"/>
            <a:ext cx="571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39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0E5D4-1635-4472-9EE1-40DB2F56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239000"/>
            <a:ext cx="571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Excel result export and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2214286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ge">
            <a:extLst xmlns:a="http://schemas.openxmlformats.org/drawingml/2006/main">
              <a:ext uri="{FF2B5EF4-FFF2-40B4-BE49-F238E27FC236}">
                <a16:creationId xmlns:a16="http://schemas.microsoft.com/office/drawing/2014/main" id="{5D657BA3-D95B-4702-9F76-160CEFFC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F7AD2-2B4A-4D35-B857-D2031A49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AI Agents Helped under My Supervision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41627-8496-462E-8A8D-B2F9DEC5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1095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2616B"/>
                </a:solidFill>
              </a:defRPr>
            </a:pPr>
            <a:r>
              <a:rPr sz="1875" b="0" i="0">
                <a:solidFill>
                  <a:srgbClr val="52616B"/>
                </a:solidFill>
              </a:rPr>
              <a:t>AI assistance was used as a supervised development partner, while I made project decisions and tested the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B945F-230E-4D6D-9FF9-FA1B8383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964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5CB2F-09E5-425C-8D12-ABEDC221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81550"/>
            <a:ext cx="771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Helped read project documents and prepare next steps.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8C56D-2DF3-448B-8860-5D00478A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019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60379-8044-4E77-95C1-9DCAA43F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72100"/>
            <a:ext cx="771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Generated code suggestions and implementation drafts.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4DF52-6167-4F8B-95F4-B22D621F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6074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5F0BB-7A1F-4F04-A959-239576CF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962650"/>
            <a:ext cx="771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Helped debug issues and improve the user 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5C574-28A0-4A90-BD88-62CBE53E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5129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7CA48-C6F2-4F29-B700-AB215FB3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553200"/>
            <a:ext cx="771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Prepared documentation and this presentation draft.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2BC31-52A4-4E40-A064-A7F95167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62500"/>
            <a:ext cx="7981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0E5C5A"/>
                </a:solidFill>
              </a:defRPr>
            </a:pPr>
            <a:r>
              <a:rPr sz="3300" b="1" i="0">
                <a:solidFill>
                  <a:srgbClr val="0E5C5A"/>
                </a:solidFill>
              </a:rPr>
              <a:t>My supervision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CBE60-FC86-426D-80AD-6D69AF3C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524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23C"/>
          </a:solidFill>
          <a:ln xmlns:a="http://schemas.openxmlformats.org/drawingml/2006/main" w="0">
            <a:solidFill>
              <a:srgbClr val="F3B2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1A40C-412B-4CD0-83FA-89AD423B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810250"/>
            <a:ext cx="6000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11827"/>
                </a:solidFill>
              </a:defRPr>
            </a:pPr>
            <a:r>
              <a:rPr sz="2400" b="0" i="0">
                <a:solidFill>
                  <a:srgbClr val="111827"/>
                </a:solidFill>
              </a:rPr>
              <a:t>I selected the features, checked the behavior, approved changes, tested the Streamlit app, and kept the project aligned with the study goal.</a:t>
            </a:r>
          </a:p>
        </p:txBody>
      </p:sp>
    </p:spTree>
    <p:extLst>
      <p:ext uri="{BB962C8B-B14F-4D97-AF65-F5344CB8AC3E}">
        <p14:creationId xmlns:p14="http://schemas.microsoft.com/office/powerpoint/2010/main" val="11124806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ge">
            <a:extLst xmlns:a="http://schemas.openxmlformats.org/drawingml/2006/main">
              <a:ext uri="{FF2B5EF4-FFF2-40B4-BE49-F238E27FC236}">
                <a16:creationId xmlns:a16="http://schemas.microsoft.com/office/drawing/2014/main" id="{2658A74C-FB2E-4C4D-8C4A-D8AE0F90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5B1E1-67A6-47EF-A110-991544A1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What I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BAB69-254A-4E22-9346-902B9113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7524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2616B"/>
                </a:solidFill>
              </a:defRPr>
            </a:pPr>
            <a:r>
              <a:rPr sz="1875" b="0" i="0">
                <a:solidFill>
                  <a:srgbClr val="52616B"/>
                </a:solidFill>
              </a:rPr>
              <a:t>The project connected application development with practical data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E1747-DA42-442B-ADC9-2A86DE1B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8001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0E5C5A"/>
                </a:solidFill>
              </a:defRPr>
            </a:pPr>
            <a:r>
              <a:rPr sz="4350" b="1" i="0">
                <a:solidFill>
                  <a:srgbClr val="0E5C5A"/>
                </a:solidFill>
              </a:rPr>
              <a:t>CSV, JSON, Excel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65217-811D-42BE-AEB5-91A07DBB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8001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Data formats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FB6A1-AE7F-4C3D-BE0D-E0543DB4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8001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2563EB"/>
                </a:solidFill>
              </a:defRPr>
            </a:pPr>
            <a:r>
              <a:rPr sz="4350" b="1" i="0">
                <a:solidFill>
                  <a:srgbClr val="2563EB"/>
                </a:solidFill>
              </a:rPr>
              <a:t>Parquet for faster 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C43CB-2A12-4F24-B026-B13DAF69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29350"/>
            <a:ext cx="8001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Performance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07293-68C0-4D3C-AB37-F7A20998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05600"/>
            <a:ext cx="8001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E76F51"/>
                </a:solidFill>
              </a:defRPr>
            </a:pPr>
            <a:r>
              <a:rPr sz="4350" b="1" i="0">
                <a:solidFill>
                  <a:srgbClr val="E76F51"/>
                </a:solidFill>
              </a:rPr>
              <a:t>DuckDB for file-based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FBB44-BF28-43B0-928C-0A2C0DEC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0"/>
            <a:ext cx="8001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16B"/>
                </a:solidFill>
              </a:defRPr>
            </a:pPr>
            <a:r>
              <a:rPr sz="1575" b="0" i="0">
                <a:solidFill>
                  <a:srgbClr val="52616B"/>
                </a:solidFill>
              </a:rPr>
              <a:t>SQL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278E0-4E4C-4FD5-B392-D484DFA8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5109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3DE72-54F1-4CF2-8F24-8FB3B645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53000"/>
            <a:ext cx="7734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Why IDs and codes should stay as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5BEC3-593A-4720-A0B3-9BDE17F9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52259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3B1A6-EBAB-46F6-BCD3-A3520BA9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24500"/>
            <a:ext cx="7734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How field mapping reduces schema differences.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27DC3-EB06-4A51-8B68-BE6556A2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09409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E5E66-1C45-4648-BD57-B0FBA6A9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096000"/>
            <a:ext cx="7734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How small sample data helps prove logic before large files.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82BCB-D4F9-4701-B48C-32ACFC75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66559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2AB1D-CE3B-4F83-B2E8-752CBCA7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667500"/>
            <a:ext cx="7734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How documentation improves project quality.</a:t>
            </a:r>
          </a:p>
        </p:txBody>
      </p:sp>
    </p:spTree>
    <p:extLst>
      <p:ext uri="{BB962C8B-B14F-4D97-AF65-F5344CB8AC3E}">
        <p14:creationId xmlns:p14="http://schemas.microsoft.com/office/powerpoint/2010/main" val="7406892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ge">
            <a:extLst xmlns:a="http://schemas.openxmlformats.org/drawingml/2006/main">
              <a:ext uri="{FF2B5EF4-FFF2-40B4-BE49-F238E27FC236}">
                <a16:creationId xmlns:a16="http://schemas.microsoft.com/office/drawing/2014/main" id="{EC556B1B-916A-471F-B11B-07465A86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FB727-08EF-46BD-A598-AA215A16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Challenges and Solutions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2FE09-6014-4315-8B68-12D0DE5E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9486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2616B"/>
                </a:solidFill>
              </a:defRPr>
            </a:pPr>
            <a:r>
              <a:rPr sz="1875" b="0" i="0">
                <a:solidFill>
                  <a:srgbClr val="52616B"/>
                </a:solidFill>
              </a:rPr>
              <a:t>Most challenges came from turning a plan into a real workflow that works with different file types.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7A2A9-EB79-4949-ABBA-EB0C5557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3143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E76F51"/>
                </a:solidFill>
              </a:defRPr>
            </a:pPr>
            <a:r>
              <a:rPr sz="2250" b="1" i="0">
                <a:solidFill>
                  <a:srgbClr val="E76F51"/>
                </a:solidFill>
              </a:rPr>
              <a:t>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C8438-5E2D-4015-BEFC-9A848623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29050"/>
            <a:ext cx="6438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Large CSV files could be slow or memory-heavy.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3662C-358F-4212-A265-10C9BD27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29050"/>
            <a:ext cx="6438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0E5C5A"/>
                </a:solidFill>
              </a:defRPr>
            </a:pPr>
            <a:r>
              <a:rPr sz="2250" b="0" i="0">
                <a:solidFill>
                  <a:srgbClr val="0E5C5A"/>
                </a:solidFill>
              </a:rPr>
              <a:t>Solution: preview only first rows, then use DuckDB/Parquet for comparison.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FC01D-E2A1-423A-A169-50372D7D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solidFill>
              <a:srgbClr val="CBD5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9ABC7-6055-4BDB-811C-00C84286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3143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E76F51"/>
                </a:solidFill>
              </a:defRPr>
            </a:pPr>
            <a:r>
              <a:rPr sz="2250" b="1" i="0">
                <a:solidFill>
                  <a:srgbClr val="E76F51"/>
                </a:solidFill>
              </a:rPr>
              <a:t>Challenge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FB834-7217-4BDC-A936-35838262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10200"/>
            <a:ext cx="6438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Different systems use different column names.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09111-49AA-4321-9388-800F2AAB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10200"/>
            <a:ext cx="6438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0E5C5A"/>
                </a:solidFill>
              </a:defRPr>
            </a:pPr>
            <a:r>
              <a:rPr sz="2250" b="0" i="0">
                <a:solidFill>
                  <a:srgbClr val="0E5C5A"/>
                </a:solidFill>
              </a:rPr>
              <a:t>Solution: field mapping screen with JSON save and restore.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BB405-DB8B-402D-8182-BD75A155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627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1"/>
          </a:solidFill>
          <a:ln xmlns:a="http://schemas.openxmlformats.org/drawingml/2006/main" w="0">
            <a:solidFill>
              <a:srgbClr val="CBD5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84DAA-F2AA-4A07-88EE-8D2FDB18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91350"/>
            <a:ext cx="3143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E76F51"/>
                </a:solidFill>
              </a:defRPr>
            </a:pPr>
            <a:r>
              <a:rPr sz="2250" b="1" i="0">
                <a:solidFill>
                  <a:srgbClr val="E76F51"/>
                </a:solidFill>
              </a:rPr>
              <a:t>Challenge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1B2F3-8EFC-4FD7-8FE8-117763D4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991350"/>
            <a:ext cx="6438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Users may have JSON or Excel, not only CSV.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4152C8-5AF0-4530-A151-87000DB5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991350"/>
            <a:ext cx="6438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0E5C5A"/>
                </a:solidFill>
              </a:defRPr>
            </a:pPr>
            <a:r>
              <a:rPr sz="2250" b="0" i="0">
                <a:solidFill>
                  <a:srgbClr val="0E5C5A"/>
                </a:solidFill>
              </a:rPr>
              <a:t>Solution: flatten JSON and read the first Excel sheet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5078320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ge">
            <a:extLst xmlns:a="http://schemas.openxmlformats.org/drawingml/2006/main">
              <a:ext uri="{FF2B5EF4-FFF2-40B4-BE49-F238E27FC236}">
                <a16:creationId xmlns:a16="http://schemas.microsoft.com/office/drawing/2014/main" id="{5C827D95-3F66-4BD2-836A-4DBFC62C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DE533-356A-4C43-97C5-FDFC4EE4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Product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1A4E1-9C07-4EA3-810B-C3AC2B17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7600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2616B"/>
                </a:solidFill>
              </a:defRPr>
            </a:pPr>
            <a:r>
              <a:rPr sz="1875" b="0" i="0">
                <a:solidFill>
                  <a:srgbClr val="52616B"/>
                </a:solidFill>
              </a:rPr>
              <a:t>Suggested live demo: show the full workflow with the sample files in Streamlit.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75434-5364-4BFE-B5FE-2CAABF4A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722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478A9-34A0-47A5-BFA5-871CD2D2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9201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Open the app at localhost:8501.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8E41C-C4DC-4B3B-A189-3FBC7016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967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3B042-539A-47B7-9AED-757463A1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72050"/>
            <a:ext cx="9201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Upload Dataset A and Dataset 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CE019-CA73-4B3C-AEB0-B3BCEFEA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212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21F0C-9F1C-4612-83A8-6B0E88B7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9201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Select key columns: customer_id and cust_no.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A23B2-1938-4D80-B055-152B5D95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457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241F2-0C27-4F6C-94BA-8CE7E160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076950"/>
            <a:ext cx="9201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Map fields and mark comparison fields.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8F2B3-458C-4B36-A261-4D3082C1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3702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914DF-D3F4-4467-BF4B-121805D9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629400"/>
            <a:ext cx="9201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Run DuckDB comparison.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EEA4D-4491-44FA-B983-1C9B4CA0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8947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55861-8760-4C46-B759-B185A8B3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181850"/>
            <a:ext cx="9201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Download the Excel report.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BB5CAE-73C6-4F42-A4BB-7129DF6B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358390"/>
            <a:ext cx="6477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63B98-9566-49DC-982B-F6871B2D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0"/>
            <a:ext cx="6019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Dataset Comparison Tool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794F5-E460-4CDC-B2BD-1EADEE5F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4190"/>
            <a:ext cx="2933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D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3986F9-9AB1-4DC1-ABDC-54F89A6E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8000"/>
            <a:ext cx="2933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DDE7F0"/>
                </a:solidFill>
              </a:defRPr>
            </a:pPr>
            <a:r>
              <a:rPr sz="1650" b="0" i="0">
                <a:solidFill>
                  <a:srgbClr val="DDE7F0"/>
                </a:solidFill>
              </a:rPr>
              <a:t>Upload 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AA3CB5-2091-4A15-96F6-5F4DC83C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3044190"/>
            <a:ext cx="2933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2CF4BA-6075-47F0-BE64-40FB57D2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3048000"/>
            <a:ext cx="2933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DDE7F0"/>
                </a:solidFill>
              </a:defRPr>
            </a:pPr>
            <a:r>
              <a:rPr sz="1650" b="0" i="0">
                <a:solidFill>
                  <a:srgbClr val="DDE7F0"/>
                </a:solidFill>
              </a:rPr>
              <a:t>Upload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082333-6737-404B-88F1-E25E0F2E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768090"/>
            <a:ext cx="6019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36A615-6765-47D5-AC2C-D287CC62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905250"/>
            <a:ext cx="5638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DDE7F0"/>
                </a:solidFill>
              </a:defRPr>
            </a:pPr>
            <a:r>
              <a:rPr sz="1800" b="0" i="0">
                <a:solidFill>
                  <a:srgbClr val="DDE7F0"/>
                </a:solidFill>
              </a:rPr>
              <a:t>Preview tables + key selection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1AB541-CDE9-4855-85F8-8BDF34CC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892040"/>
            <a:ext cx="6019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43B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A36D4E-31FC-4865-95C0-ADE1CBCE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029200"/>
            <a:ext cx="5638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DDE7F0"/>
                </a:solidFill>
              </a:defRPr>
            </a:pPr>
            <a:r>
              <a:rPr sz="1800" b="0" i="0">
                <a:solidFill>
                  <a:srgbClr val="DDE7F0"/>
                </a:solidFill>
              </a:rPr>
              <a:t>Field mapping 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B7F854-F73D-44D6-AF20-9E47CBCC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015990"/>
            <a:ext cx="6019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C5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135CB2-40A3-4DC1-8FF1-9B4F1741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72200"/>
            <a:ext cx="5638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Run comparison  -&gt;  Download Excel</a:t>
            </a:r>
          </a:p>
        </p:txBody>
      </p:sp>
    </p:spTree>
    <p:extLst>
      <p:ext uri="{BB962C8B-B14F-4D97-AF65-F5344CB8AC3E}">
        <p14:creationId xmlns:p14="http://schemas.microsoft.com/office/powerpoint/2010/main" val="20979265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ge">
            <a:extLst xmlns:a="http://schemas.openxmlformats.org/drawingml/2006/main">
              <a:ext uri="{FF2B5EF4-FFF2-40B4-BE49-F238E27FC236}">
                <a16:creationId xmlns:a16="http://schemas.microsoft.com/office/drawing/2014/main" id="{D92607EA-B9F5-4366-B84E-7E7DC8DD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531F8-65ED-4C3D-9008-553DDD19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11827"/>
                </a:solidFill>
              </a:defRPr>
            </a:pPr>
            <a:r>
              <a:rPr sz="4350" b="1" i="0">
                <a:solidFill>
                  <a:srgbClr val="111827"/>
                </a:solidFill>
              </a:rPr>
              <a:t>Current Status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BC0D5-7C77-42BA-9310-8E8BD4CE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11430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2616B"/>
                </a:solidFill>
              </a:defRPr>
            </a:pPr>
            <a:r>
              <a:rPr sz="1875" b="0" i="0">
                <a:solidFill>
                  <a:srgbClr val="52616B"/>
                </a:solidFill>
              </a:rPr>
              <a:t>The project has a working comparison workflow. The next improvements would make it more robust and user-friendly.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FBD75-07C9-4DB0-8B5F-0C717175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7981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0E5C5A"/>
                </a:solidFill>
              </a:defRPr>
            </a:pPr>
            <a:r>
              <a:rPr sz="3300" b="1" i="0">
                <a:solidFill>
                  <a:srgbClr val="0E5C5A"/>
                </a:solidFill>
              </a:rPr>
              <a:t>Done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22FE8-65DA-47E0-B46A-BC178B0A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685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8F368-3758-4D23-82E9-99398A6E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14950"/>
            <a:ext cx="771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CSV, JSON, and Excel upload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4D8BE-5DC2-44BA-804D-7BFAA256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835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6E9A3-E608-47E8-A842-82FAE6E3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86450"/>
            <a:ext cx="771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Preview and field mapping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F3EBF-48BD-4A47-9E35-02A45F89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5985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F083D-5DEB-4FBE-A953-0D0D55C7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57950"/>
            <a:ext cx="771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DuckDB/Parquet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9989D-AE5C-4CF2-8004-F5CE5E3A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3135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73D69-5E11-4A44-A9B0-BE41C700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029450"/>
            <a:ext cx="771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Excel report download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08119-EB5C-454F-806F-2CE642B7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7981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E76F51"/>
                </a:solidFill>
              </a:defRPr>
            </a:pPr>
            <a:r>
              <a:rPr sz="3300" b="1" i="0">
                <a:solidFill>
                  <a:srgbClr val="E76F51"/>
                </a:solidFill>
              </a:rPr>
              <a:t>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E7152-94C8-447D-9B48-A90D2F5C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31685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3E4E5-0D1A-45A7-8EF6-0EF47A19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314950"/>
            <a:ext cx="771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Duplicate key detection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F368B-B023-450D-B4DC-F5E6A907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88835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442856-9C90-4242-93EE-4FFFDF8E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886450"/>
            <a:ext cx="771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Better charts and visual 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6E23F-C9AD-45ED-A208-2270F9C4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45985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55BD8-FE95-4BB8-ACFC-1030210C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57950"/>
            <a:ext cx="771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Choose Excel sheet manually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15A9A6-8EA4-44F6-BC58-339F9882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03135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A39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CDD92C-42D5-43CD-93DA-E628C846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7029450"/>
            <a:ext cx="771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More automated tests</a:t>
            </a:r>
          </a:p>
        </p:txBody>
      </p:sp>
    </p:spTree>
    <p:extLst>
      <p:ext uri="{BB962C8B-B14F-4D97-AF65-F5344CB8AC3E}">
        <p14:creationId xmlns:p14="http://schemas.microsoft.com/office/powerpoint/2010/main" val="12478487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2026-05-10T10:58:40.1880000Z</dcterms:created>
  <dcterms:modified xsi:type="dcterms:W3CDTF">2026-05-10T10:58:40.1880000Z</dcterms:modified>
</coreProperties>
</file>