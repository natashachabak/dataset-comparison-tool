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57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ge">
            <a:extLst>
              <a:ext uri="{FF2B5EF4-FFF2-40B4-BE49-F238E27FC236}">
                <a16:creationId xmlns:a16="http://schemas.microsoft.com/office/drawing/2014/main" id="{6CB27DBC-B939-42D3-B7BC-5FA471C97C40}"/>
              </a:ext>
            </a:extLst>
          </p:cNvPr>
          <p:cNvSpPr>
            <a:spLocks noGrp="1"/>
          </p:cNvSpPr>
          <p:nvPr/>
        </p:nvSpPr>
        <p:spPr>
          <a:xfrm>
            <a:off x="-155863" y="-152400"/>
            <a:ext cx="18288000" cy="10287000"/>
          </a:xfrm>
          <a:prstGeom prst="rect">
            <a:avLst/>
          </a:prstGeom>
          <a:solidFill>
            <a:srgbClr val="0B1F2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1469BD-671E-4048-9D81-4D0C762FAAB4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10896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4FA39B"/>
                </a:solidFill>
              </a:defRPr>
            </a:pPr>
            <a:r>
              <a:rPr sz="1800" b="1" i="0">
                <a:solidFill>
                  <a:srgbClr val="4FA39B"/>
                </a:solidFill>
              </a:rPr>
              <a:t>Python + Streamlit + DuckDB + Parquet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6E6F2E-43BC-4259-A67E-7F84F45BDB20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9067800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900" b="1" i="0">
                <a:solidFill>
                  <a:srgbClr val="FFFFFF"/>
                </a:solidFill>
              </a:defRPr>
            </a:pPr>
            <a:r>
              <a:rPr sz="6900" b="1" i="0" dirty="0">
                <a:solidFill>
                  <a:srgbClr val="FFFFFF"/>
                </a:solidFill>
              </a:rPr>
              <a:t>Dataset Comparison Tool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3FB436-0E04-4597-97F1-4DFCE637DC29}"/>
              </a:ext>
            </a:extLst>
          </p:cNvPr>
          <p:cNvSpPr>
            <a:spLocks noGrp="1"/>
          </p:cNvSpPr>
          <p:nvPr/>
        </p:nvSpPr>
        <p:spPr>
          <a:xfrm>
            <a:off x="914400" y="6816436"/>
            <a:ext cx="2476500" cy="57150"/>
          </a:xfrm>
          <a:prstGeom prst="rect">
            <a:avLst/>
          </a:prstGeom>
          <a:solidFill>
            <a:srgbClr val="F3B23C"/>
          </a:solidFill>
          <a:ln w="0">
            <a:solidFill>
              <a:srgbClr val="F3B23C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581B2F-40E5-4E74-AF05-A29014CC5D41}"/>
              </a:ext>
            </a:extLst>
          </p:cNvPr>
          <p:cNvSpPr>
            <a:spLocks noGrp="1"/>
          </p:cNvSpPr>
          <p:nvPr/>
        </p:nvSpPr>
        <p:spPr>
          <a:xfrm>
            <a:off x="914400" y="6993082"/>
            <a:ext cx="8972550" cy="904008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0" i="0">
                <a:solidFill>
                  <a:srgbClr val="D8ECE8"/>
                </a:solidFill>
              </a:defRPr>
            </a:pPr>
            <a:r>
              <a:rPr sz="2550" b="0" i="0" dirty="0">
                <a:solidFill>
                  <a:srgbClr val="D8ECE8"/>
                </a:solidFill>
              </a:rPr>
              <a:t>A </a:t>
            </a:r>
            <a:r>
              <a:rPr sz="2550" b="0" i="0" dirty="0" err="1">
                <a:solidFill>
                  <a:srgbClr val="D8ECE8"/>
                </a:solidFill>
              </a:rPr>
              <a:t>Streamlit</a:t>
            </a:r>
            <a:r>
              <a:rPr sz="2550" b="0" i="0" dirty="0">
                <a:solidFill>
                  <a:srgbClr val="D8ECE8"/>
                </a:solidFill>
              </a:rPr>
              <a:t> application for comparing exported datasets when direct database access is not available.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49989-B06D-4CE3-BC4A-4B94CB4E1C4A}"/>
              </a:ext>
            </a:extLst>
          </p:cNvPr>
          <p:cNvSpPr>
            <a:spLocks noGrp="1"/>
          </p:cNvSpPr>
          <p:nvPr/>
        </p:nvSpPr>
        <p:spPr>
          <a:xfrm>
            <a:off x="12420600" y="2857500"/>
            <a:ext cx="4953000" cy="876300"/>
          </a:xfrm>
          <a:prstGeom prst="rect">
            <a:avLst/>
          </a:prstGeom>
          <a:solidFill>
            <a:srgbClr val="12323A"/>
          </a:solidFill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068CD7-6C10-4BB8-AE57-7E3C840304AD}"/>
              </a:ext>
            </a:extLst>
          </p:cNvPr>
          <p:cNvSpPr>
            <a:spLocks noGrp="1"/>
          </p:cNvSpPr>
          <p:nvPr/>
        </p:nvSpPr>
        <p:spPr>
          <a:xfrm>
            <a:off x="12668250" y="3067050"/>
            <a:ext cx="4457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580F38-3242-4661-BDED-48A3888FDCA5}"/>
              </a:ext>
            </a:extLst>
          </p:cNvPr>
          <p:cNvSpPr>
            <a:spLocks noGrp="1"/>
          </p:cNvSpPr>
          <p:nvPr/>
        </p:nvSpPr>
        <p:spPr>
          <a:xfrm>
            <a:off x="12420600" y="3905250"/>
            <a:ext cx="4953000" cy="876300"/>
          </a:xfrm>
          <a:prstGeom prst="rect">
            <a:avLst/>
          </a:prstGeom>
          <a:solidFill>
            <a:srgbClr val="16434A"/>
          </a:solidFill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985369-90E4-40E6-8AFE-C2691100BF46}"/>
              </a:ext>
            </a:extLst>
          </p:cNvPr>
          <p:cNvSpPr>
            <a:spLocks noGrp="1"/>
          </p:cNvSpPr>
          <p:nvPr/>
        </p:nvSpPr>
        <p:spPr>
          <a:xfrm>
            <a:off x="12668250" y="4114800"/>
            <a:ext cx="4457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Map fields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29469B-12F3-4562-B577-B0FCE55A25FF}"/>
              </a:ext>
            </a:extLst>
          </p:cNvPr>
          <p:cNvSpPr>
            <a:spLocks noGrp="1"/>
          </p:cNvSpPr>
          <p:nvPr/>
        </p:nvSpPr>
        <p:spPr>
          <a:xfrm>
            <a:off x="12420600" y="4953000"/>
            <a:ext cx="4953000" cy="876300"/>
          </a:xfrm>
          <a:prstGeom prst="rect">
            <a:avLst/>
          </a:prstGeom>
          <a:solidFill>
            <a:srgbClr val="1C565A"/>
          </a:solidFill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AEEE2D-6DD5-4C2F-B72A-2EBB6404DEF7}"/>
              </a:ext>
            </a:extLst>
          </p:cNvPr>
          <p:cNvSpPr>
            <a:spLocks noGrp="1"/>
          </p:cNvSpPr>
          <p:nvPr/>
        </p:nvSpPr>
        <p:spPr>
          <a:xfrm>
            <a:off x="12668250" y="5162550"/>
            <a:ext cx="4457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Compare with DuckDB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4942307-107F-4DD2-9ADC-9A9EF1E9159B}"/>
              </a:ext>
            </a:extLst>
          </p:cNvPr>
          <p:cNvSpPr>
            <a:spLocks noGrp="1"/>
          </p:cNvSpPr>
          <p:nvPr/>
        </p:nvSpPr>
        <p:spPr>
          <a:xfrm>
            <a:off x="12420600" y="6000750"/>
            <a:ext cx="4953000" cy="876300"/>
          </a:xfrm>
          <a:prstGeom prst="rect">
            <a:avLst/>
          </a:prstGeom>
          <a:solidFill>
            <a:srgbClr val="24706C"/>
          </a:solidFill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FD9463-3F0C-4993-B1C8-1ECD30958967}"/>
              </a:ext>
            </a:extLst>
          </p:cNvPr>
          <p:cNvSpPr>
            <a:spLocks noGrp="1"/>
          </p:cNvSpPr>
          <p:nvPr/>
        </p:nvSpPr>
        <p:spPr>
          <a:xfrm>
            <a:off x="12668250" y="6210300"/>
            <a:ext cx="4457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Export Excel report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C5E8524-0248-4E17-9B3F-71BAC86F3BEE}"/>
              </a:ext>
            </a:extLst>
          </p:cNvPr>
          <p:cNvSpPr>
            <a:spLocks noGrp="1"/>
          </p:cNvSpPr>
          <p:nvPr/>
        </p:nvSpPr>
        <p:spPr>
          <a:xfrm>
            <a:off x="914400" y="9372600"/>
            <a:ext cx="16459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A7C7C3"/>
                </a:solidFill>
              </a:defRPr>
            </a:pPr>
            <a:r>
              <a:rPr sz="1500" b="0" i="0">
                <a:solidFill>
                  <a:srgbClr val="A7C7C3"/>
                </a:solidFill>
              </a:rPr>
              <a:t>ICT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47487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tage">
            <a:extLst>
              <a:ext uri="{FF2B5EF4-FFF2-40B4-BE49-F238E27FC236}">
                <a16:creationId xmlns:a16="http://schemas.microsoft.com/office/drawing/2014/main" id="{3A96690C-CE1D-437D-9A6A-0DA75378E4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E5DAB44-59B1-4ACE-8A78-66C3E9CEEB22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What Is The Project?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844F1A-3AE7-4C36-BD9F-918B7FD92268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9791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 dirty="0">
                <a:solidFill>
                  <a:srgbClr val="52616B"/>
                </a:solidFill>
              </a:rPr>
              <a:t>The tool helps validate whether two exported datasets contain the same business records and values.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12D182E-504F-47C6-8FD2-0049759B4E9E}"/>
              </a:ext>
            </a:extLst>
          </p:cNvPr>
          <p:cNvSpPr>
            <a:spLocks noGrp="1"/>
          </p:cNvSpPr>
          <p:nvPr/>
        </p:nvSpPr>
        <p:spPr>
          <a:xfrm>
            <a:off x="914400" y="44462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D4CB56-E953-425D-9624-6E675C65E82A}"/>
              </a:ext>
            </a:extLst>
          </p:cNvPr>
          <p:cNvSpPr>
            <a:spLocks noGrp="1"/>
          </p:cNvSpPr>
          <p:nvPr/>
        </p:nvSpPr>
        <p:spPr>
          <a:xfrm>
            <a:off x="1181100" y="4438650"/>
            <a:ext cx="1024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Upload two datasets in CSV, JSON, or Excel format.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B71CEAD-0264-4F1B-8E9A-796B4F488338}"/>
              </a:ext>
            </a:extLst>
          </p:cNvPr>
          <p:cNvSpPr>
            <a:spLocks noGrp="1"/>
          </p:cNvSpPr>
          <p:nvPr/>
        </p:nvSpPr>
        <p:spPr>
          <a:xfrm>
            <a:off x="914400" y="50558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F0FA41-6428-4FF8-99E0-121B253683F2}"/>
              </a:ext>
            </a:extLst>
          </p:cNvPr>
          <p:cNvSpPr>
            <a:spLocks noGrp="1"/>
          </p:cNvSpPr>
          <p:nvPr/>
        </p:nvSpPr>
        <p:spPr>
          <a:xfrm>
            <a:off x="1181100" y="5048250"/>
            <a:ext cx="1024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Preview data safely before full comparison.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B3AFCD4B-9954-48B5-8C83-04C874974D8D}"/>
              </a:ext>
            </a:extLst>
          </p:cNvPr>
          <p:cNvSpPr>
            <a:spLocks noGrp="1"/>
          </p:cNvSpPr>
          <p:nvPr/>
        </p:nvSpPr>
        <p:spPr>
          <a:xfrm>
            <a:off x="914400" y="56654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2B49002-E9BB-4EF9-BE9E-234521A281AC}"/>
              </a:ext>
            </a:extLst>
          </p:cNvPr>
          <p:cNvSpPr>
            <a:spLocks noGrp="1"/>
          </p:cNvSpPr>
          <p:nvPr/>
        </p:nvSpPr>
        <p:spPr>
          <a:xfrm>
            <a:off x="1181100" y="5657850"/>
            <a:ext cx="1024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 dirty="0">
                <a:solidFill>
                  <a:srgbClr val="111827"/>
                </a:solidFill>
              </a:rPr>
              <a:t>Map different field names between systems.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F5276342-93D4-480D-883C-2793733135E5}"/>
              </a:ext>
            </a:extLst>
          </p:cNvPr>
          <p:cNvSpPr>
            <a:spLocks noGrp="1"/>
          </p:cNvSpPr>
          <p:nvPr/>
        </p:nvSpPr>
        <p:spPr>
          <a:xfrm>
            <a:off x="914400" y="62750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F8D8CBF-1680-4648-90A1-35975EB835A3}"/>
              </a:ext>
            </a:extLst>
          </p:cNvPr>
          <p:cNvSpPr>
            <a:spLocks noGrp="1"/>
          </p:cNvSpPr>
          <p:nvPr/>
        </p:nvSpPr>
        <p:spPr>
          <a:xfrm>
            <a:off x="1181100" y="6267450"/>
            <a:ext cx="1024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 dirty="0">
                <a:solidFill>
                  <a:srgbClr val="111827"/>
                </a:solidFill>
              </a:rPr>
              <a:t>Compare records using selected key fields.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B21299B0-FEA1-406E-ADC3-079B33FFE7B6}"/>
              </a:ext>
            </a:extLst>
          </p:cNvPr>
          <p:cNvSpPr>
            <a:spLocks noGrp="1"/>
          </p:cNvSpPr>
          <p:nvPr/>
        </p:nvSpPr>
        <p:spPr>
          <a:xfrm>
            <a:off x="914400" y="68846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7291FF0-6C4F-4289-B9FA-8C6D62712FB2}"/>
              </a:ext>
            </a:extLst>
          </p:cNvPr>
          <p:cNvSpPr>
            <a:spLocks noGrp="1"/>
          </p:cNvSpPr>
          <p:nvPr/>
        </p:nvSpPr>
        <p:spPr>
          <a:xfrm>
            <a:off x="1181100" y="6877050"/>
            <a:ext cx="1024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 dirty="0">
                <a:solidFill>
                  <a:srgbClr val="111827"/>
                </a:solidFill>
              </a:rPr>
              <a:t>Download comparison results as an Excel report.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D2AFBFE-279C-48C7-A8D2-D17AD9CEC707}"/>
              </a:ext>
            </a:extLst>
          </p:cNvPr>
          <p:cNvSpPr>
            <a:spLocks noGrp="1"/>
          </p:cNvSpPr>
          <p:nvPr/>
        </p:nvSpPr>
        <p:spPr>
          <a:xfrm>
            <a:off x="12039600" y="2072640"/>
            <a:ext cx="5334000" cy="5334000"/>
          </a:xfrm>
          <a:prstGeom prst="rect">
            <a:avLst/>
          </a:prstGeom>
          <a:solidFill>
            <a:srgbClr val="E7F0EA"/>
          </a:solidFill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FC5B15F-FCBB-4122-A075-D790A7EBE0AC}"/>
              </a:ext>
            </a:extLst>
          </p:cNvPr>
          <p:cNvSpPr>
            <a:spLocks noGrp="1"/>
          </p:cNvSpPr>
          <p:nvPr/>
        </p:nvSpPr>
        <p:spPr>
          <a:xfrm>
            <a:off x="12363450" y="2914650"/>
            <a:ext cx="46863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 dirty="0">
                <a:solidFill>
                  <a:srgbClr val="0E5C5A"/>
                </a:solidFill>
              </a:rPr>
              <a:t>CSV / JSON / Excel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AD0AAB4-7767-4E5B-9678-CEC6E3CD07B1}"/>
              </a:ext>
            </a:extLst>
          </p:cNvPr>
          <p:cNvSpPr>
            <a:spLocks noGrp="1"/>
          </p:cNvSpPr>
          <p:nvPr/>
        </p:nvSpPr>
        <p:spPr>
          <a:xfrm>
            <a:off x="12363450" y="3657600"/>
            <a:ext cx="46863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Input formats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EC98ED6-C00C-466E-BEB3-44F0790029A9}"/>
              </a:ext>
            </a:extLst>
          </p:cNvPr>
          <p:cNvSpPr>
            <a:spLocks noGrp="1"/>
          </p:cNvSpPr>
          <p:nvPr/>
        </p:nvSpPr>
        <p:spPr>
          <a:xfrm>
            <a:off x="12363450" y="4057650"/>
            <a:ext cx="4686300" cy="19050"/>
          </a:xfrm>
          <a:prstGeom prst="rect">
            <a:avLst/>
          </a:prstGeom>
          <a:solidFill>
            <a:srgbClr val="CBD5D1"/>
          </a:solidFill>
          <a:ln w="0">
            <a:solidFill>
              <a:srgbClr val="CBD5D1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1942AC9-170D-4623-ACD0-5539CE61FA0B}"/>
              </a:ext>
            </a:extLst>
          </p:cNvPr>
          <p:cNvSpPr>
            <a:spLocks noGrp="1"/>
          </p:cNvSpPr>
          <p:nvPr/>
        </p:nvSpPr>
        <p:spPr>
          <a:xfrm>
            <a:off x="12363450" y="4248150"/>
            <a:ext cx="46863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CSV -&gt; Parquet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A39D23D-59D3-42EE-983B-94A87F4844C5}"/>
              </a:ext>
            </a:extLst>
          </p:cNvPr>
          <p:cNvSpPr>
            <a:spLocks noGrp="1"/>
          </p:cNvSpPr>
          <p:nvPr/>
        </p:nvSpPr>
        <p:spPr>
          <a:xfrm>
            <a:off x="12363450" y="4991100"/>
            <a:ext cx="46863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Processing path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70246E9-AD1E-4EFF-A9D7-7D0EEC36F0B5}"/>
              </a:ext>
            </a:extLst>
          </p:cNvPr>
          <p:cNvSpPr>
            <a:spLocks noGrp="1"/>
          </p:cNvSpPr>
          <p:nvPr/>
        </p:nvSpPr>
        <p:spPr>
          <a:xfrm>
            <a:off x="12363450" y="5410200"/>
            <a:ext cx="4686300" cy="19050"/>
          </a:xfrm>
          <a:prstGeom prst="rect">
            <a:avLst/>
          </a:prstGeom>
          <a:solidFill>
            <a:srgbClr val="CBD5D1"/>
          </a:solidFill>
          <a:ln w="0">
            <a:solidFill>
              <a:srgbClr val="CBD5D1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AF052D8-B5BB-4600-BB66-29AF41E71690}"/>
              </a:ext>
            </a:extLst>
          </p:cNvPr>
          <p:cNvSpPr>
            <a:spLocks noGrp="1"/>
          </p:cNvSpPr>
          <p:nvPr/>
        </p:nvSpPr>
        <p:spPr>
          <a:xfrm>
            <a:off x="12363450" y="5600700"/>
            <a:ext cx="46863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 dirty="0">
                <a:solidFill>
                  <a:srgbClr val="E76F51"/>
                </a:solidFill>
              </a:rPr>
              <a:t>Excel report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3CA857B-6CB9-4F95-8629-ED5B1396D68D}"/>
              </a:ext>
            </a:extLst>
          </p:cNvPr>
          <p:cNvSpPr>
            <a:spLocks noGrp="1"/>
          </p:cNvSpPr>
          <p:nvPr/>
        </p:nvSpPr>
        <p:spPr>
          <a:xfrm>
            <a:off x="12363450" y="6324600"/>
            <a:ext cx="46863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549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ge">
            <a:extLst>
              <a:ext uri="{FF2B5EF4-FFF2-40B4-BE49-F238E27FC236}">
                <a16:creationId xmlns:a16="http://schemas.microsoft.com/office/drawing/2014/main" id="{46D2E310-5768-44AA-9C27-6E63B362D3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5098AB-1460-479A-84B8-4E7E5435F23B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Tools Used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47A3BDF-BFF6-41FE-A2FC-D66B670A9B1B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8553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project used lightweight tools suitable for a small data application and study project.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8128D4-84DB-4570-A2E2-DF9A30F284DB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80200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 dirty="0">
                <a:solidFill>
                  <a:srgbClr val="2563EB"/>
                </a:solidFill>
              </a:rPr>
              <a:t>VS Code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872B38-51C0-45F7-A1DC-A4DE4E77550C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8020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IDE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F60BC6-6232-4200-8396-BC17B4AEE73E}"/>
              </a:ext>
            </a:extLst>
          </p:cNvPr>
          <p:cNvSpPr>
            <a:spLocks noGrp="1"/>
          </p:cNvSpPr>
          <p:nvPr/>
        </p:nvSpPr>
        <p:spPr>
          <a:xfrm>
            <a:off x="914400" y="5353050"/>
            <a:ext cx="80200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 dirty="0" err="1">
                <a:solidFill>
                  <a:srgbClr val="0E5C5A"/>
                </a:solidFill>
              </a:rPr>
              <a:t>Git</a:t>
            </a:r>
            <a:r>
              <a:rPr sz="4350" b="1" i="0" dirty="0">
                <a:solidFill>
                  <a:srgbClr val="0E5C5A"/>
                </a:solidFill>
              </a:rPr>
              <a:t> + GitHub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88308F-3694-4B9D-AD4E-2F27BBC523FE}"/>
              </a:ext>
            </a:extLst>
          </p:cNvPr>
          <p:cNvSpPr>
            <a:spLocks noGrp="1"/>
          </p:cNvSpPr>
          <p:nvPr/>
        </p:nvSpPr>
        <p:spPr>
          <a:xfrm>
            <a:off x="914400" y="6096000"/>
            <a:ext cx="8020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Version control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60EF5F-3619-4DEE-803B-40E5899CCA80}"/>
              </a:ext>
            </a:extLst>
          </p:cNvPr>
          <p:cNvSpPr>
            <a:spLocks noGrp="1"/>
          </p:cNvSpPr>
          <p:nvPr/>
        </p:nvSpPr>
        <p:spPr>
          <a:xfrm>
            <a:off x="914400" y="6553200"/>
            <a:ext cx="80200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 dirty="0">
                <a:solidFill>
                  <a:srgbClr val="E76F51"/>
                </a:solidFill>
              </a:rPr>
              <a:t>README + Markdown docs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1313C8-0106-4514-869B-8E8C9885DE4C}"/>
              </a:ext>
            </a:extLst>
          </p:cNvPr>
          <p:cNvSpPr>
            <a:spLocks noGrp="1"/>
          </p:cNvSpPr>
          <p:nvPr/>
        </p:nvSpPr>
        <p:spPr>
          <a:xfrm>
            <a:off x="914400" y="7296150"/>
            <a:ext cx="8020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Project documentation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92409F-0A84-4B58-93EF-1781E7D0DB85}"/>
              </a:ext>
            </a:extLst>
          </p:cNvPr>
          <p:cNvSpPr>
            <a:spLocks noGrp="1"/>
          </p:cNvSpPr>
          <p:nvPr/>
        </p:nvSpPr>
        <p:spPr>
          <a:xfrm>
            <a:off x="9353550" y="4133850"/>
            <a:ext cx="80200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>
                <a:solidFill>
                  <a:srgbClr val="0E5C5A"/>
                </a:solidFill>
              </a:rPr>
              <a:t>Streamlit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9DCD07D-7FE8-4A32-AFEE-1B86AA909855}"/>
              </a:ext>
            </a:extLst>
          </p:cNvPr>
          <p:cNvSpPr>
            <a:spLocks noGrp="1"/>
          </p:cNvSpPr>
          <p:nvPr/>
        </p:nvSpPr>
        <p:spPr>
          <a:xfrm>
            <a:off x="9353550" y="4876800"/>
            <a:ext cx="8020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Frontend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2AECB34-B389-4781-8B06-229FFC6519DB}"/>
              </a:ext>
            </a:extLst>
          </p:cNvPr>
          <p:cNvSpPr>
            <a:spLocks noGrp="1"/>
          </p:cNvSpPr>
          <p:nvPr/>
        </p:nvSpPr>
        <p:spPr>
          <a:xfrm>
            <a:off x="9353550" y="5353050"/>
            <a:ext cx="80200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Pandas + OpenPyXL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CB7EA6-2AD7-4803-9F48-393EA20B9623}"/>
              </a:ext>
            </a:extLst>
          </p:cNvPr>
          <p:cNvSpPr>
            <a:spLocks noGrp="1"/>
          </p:cNvSpPr>
          <p:nvPr/>
        </p:nvSpPr>
        <p:spPr>
          <a:xfrm>
            <a:off x="9353550" y="6096000"/>
            <a:ext cx="8020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Data handling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D9FF9F0-D3D7-4EE4-963A-DC2AB17858D3}"/>
              </a:ext>
            </a:extLst>
          </p:cNvPr>
          <p:cNvSpPr>
            <a:spLocks noGrp="1"/>
          </p:cNvSpPr>
          <p:nvPr/>
        </p:nvSpPr>
        <p:spPr>
          <a:xfrm>
            <a:off x="9353550" y="6553200"/>
            <a:ext cx="80200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>
                <a:solidFill>
                  <a:srgbClr val="E76F51"/>
                </a:solidFill>
              </a:rPr>
              <a:t>DuckDB + Parquet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200E34-4B62-4D49-8F89-48741EC90F16}"/>
              </a:ext>
            </a:extLst>
          </p:cNvPr>
          <p:cNvSpPr>
            <a:spLocks noGrp="1"/>
          </p:cNvSpPr>
          <p:nvPr/>
        </p:nvSpPr>
        <p:spPr>
          <a:xfrm>
            <a:off x="9353550" y="7296150"/>
            <a:ext cx="8020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Large-file engine</a:t>
            </a:r>
          </a:p>
        </p:txBody>
      </p:sp>
    </p:spTree>
    <p:extLst>
      <p:ext uri="{BB962C8B-B14F-4D97-AF65-F5344CB8AC3E}">
        <p14:creationId xmlns:p14="http://schemas.microsoft.com/office/powerpoint/2010/main" val="211194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ge">
            <a:extLst>
              <a:ext uri="{FF2B5EF4-FFF2-40B4-BE49-F238E27FC236}">
                <a16:creationId xmlns:a16="http://schemas.microsoft.com/office/drawing/2014/main" id="{C41DD742-8429-4AFA-B869-E1A5A92441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F83F4C-70E7-4E31-8F79-5FD06667B5AB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Agile Method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0DEA58-8343-46C0-8EB3-C4240015B0DC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9448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I used a simple Kanban-style iterative approach: small tasks, visible progress, and frequent testing.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F86178-8BF5-43F1-9403-2DB7FB49CAF0}"/>
              </a:ext>
            </a:extLst>
          </p:cNvPr>
          <p:cNvSpPr>
            <a:spLocks noGrp="1"/>
          </p:cNvSpPr>
          <p:nvPr/>
        </p:nvSpPr>
        <p:spPr>
          <a:xfrm>
            <a:off x="914400" y="4737735"/>
            <a:ext cx="3943350" cy="1428750"/>
          </a:xfrm>
          <a:prstGeom prst="rect">
            <a:avLst/>
          </a:prstGeom>
          <a:solidFill>
            <a:srgbClr val="EAF2FF"/>
          </a:solidFill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A81B94-99D2-4CA8-9481-AE5A0F067F34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34099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Backlog</a:t>
            </a:r>
          </a:p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Project plan, next steps, feature ideas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91D3DC-883F-43D6-BA67-E59068760197}"/>
              </a:ext>
            </a:extLst>
          </p:cNvPr>
          <p:cNvSpPr>
            <a:spLocks noGrp="1"/>
          </p:cNvSpPr>
          <p:nvPr/>
        </p:nvSpPr>
        <p:spPr>
          <a:xfrm>
            <a:off x="5086350" y="4737735"/>
            <a:ext cx="3943350" cy="1428750"/>
          </a:xfrm>
          <a:prstGeom prst="rect">
            <a:avLst/>
          </a:prstGeom>
          <a:solidFill>
            <a:srgbClr val="E9F7EF"/>
          </a:solidFill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189BFB2-0EA2-4C12-B8BB-781555AA79AD}"/>
              </a:ext>
            </a:extLst>
          </p:cNvPr>
          <p:cNvSpPr>
            <a:spLocks noGrp="1"/>
          </p:cNvSpPr>
          <p:nvPr/>
        </p:nvSpPr>
        <p:spPr>
          <a:xfrm>
            <a:off x="5353050" y="4991100"/>
            <a:ext cx="34099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Build</a:t>
            </a:r>
          </a:p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One feature at a time in Streamlit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96007E-E467-411B-9690-037A86F5E957}"/>
              </a:ext>
            </a:extLst>
          </p:cNvPr>
          <p:cNvSpPr>
            <a:spLocks noGrp="1"/>
          </p:cNvSpPr>
          <p:nvPr/>
        </p:nvSpPr>
        <p:spPr>
          <a:xfrm>
            <a:off x="9258300" y="4737735"/>
            <a:ext cx="3943350" cy="1428750"/>
          </a:xfrm>
          <a:prstGeom prst="rect">
            <a:avLst/>
          </a:prstGeom>
          <a:solidFill>
            <a:srgbClr val="FFF4DC"/>
          </a:solidFill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A38FE2-915E-4747-B085-D8409C471393}"/>
              </a:ext>
            </a:extLst>
          </p:cNvPr>
          <p:cNvSpPr>
            <a:spLocks noGrp="1"/>
          </p:cNvSpPr>
          <p:nvPr/>
        </p:nvSpPr>
        <p:spPr>
          <a:xfrm>
            <a:off x="9525000" y="4991100"/>
            <a:ext cx="34099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Test</a:t>
            </a:r>
          </a:p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Use sample files and browser checks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1718A99-C257-4B64-AC7F-107D92A64F5A}"/>
              </a:ext>
            </a:extLst>
          </p:cNvPr>
          <p:cNvSpPr>
            <a:spLocks noGrp="1"/>
          </p:cNvSpPr>
          <p:nvPr/>
        </p:nvSpPr>
        <p:spPr>
          <a:xfrm>
            <a:off x="13430250" y="4737735"/>
            <a:ext cx="3943350" cy="1428750"/>
          </a:xfrm>
          <a:prstGeom prst="rect">
            <a:avLst/>
          </a:prstGeom>
          <a:solidFill>
            <a:srgbClr val="FDECEA"/>
          </a:solidFill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478023-8B9E-45AB-9042-29002FFD735E}"/>
              </a:ext>
            </a:extLst>
          </p:cNvPr>
          <p:cNvSpPr>
            <a:spLocks noGrp="1"/>
          </p:cNvSpPr>
          <p:nvPr/>
        </p:nvSpPr>
        <p:spPr>
          <a:xfrm>
            <a:off x="13696950" y="4991100"/>
            <a:ext cx="340995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Document</a:t>
            </a:r>
          </a:p>
          <a:p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Update README and stage docs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A6E6177-0D73-4AF6-A8B2-5A905F32D3C5}"/>
              </a:ext>
            </a:extLst>
          </p:cNvPr>
          <p:cNvSpPr>
            <a:spLocks noGrp="1"/>
          </p:cNvSpPr>
          <p:nvPr/>
        </p:nvSpPr>
        <p:spPr>
          <a:xfrm>
            <a:off x="914400" y="6496050"/>
            <a:ext cx="121539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 i="0">
                <a:solidFill>
                  <a:srgbClr val="52616B"/>
                </a:solidFill>
              </a:defRPr>
            </a:pPr>
            <a:r>
              <a:rPr sz="2400" b="0" i="0">
                <a:solidFill>
                  <a:srgbClr val="52616B"/>
                </a:solidFill>
              </a:rPr>
              <a:t>The method was practical rather than heavy: each feature became a small increment that could be tested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1874462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age">
            <a:extLst>
              <a:ext uri="{FF2B5EF4-FFF2-40B4-BE49-F238E27FC236}">
                <a16:creationId xmlns:a16="http://schemas.microsoft.com/office/drawing/2014/main" id="{750DB190-A0BB-4800-9A74-E0771777BB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A2C12A-5CF8-4444-987A-761351C0C0C1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Time Usage During Project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DC1B36-1542-4548-B1F3-E5EC50BEEAAE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8915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work was split into short development stages rather than one big implementation block.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513434-B140-4F33-9D78-AE008E35B075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Planning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68FC29-7B1D-41E0-AAB1-948C84B7B21D}"/>
              </a:ext>
            </a:extLst>
          </p:cNvPr>
          <p:cNvSpPr>
            <a:spLocks noGrp="1"/>
          </p:cNvSpPr>
          <p:nvPr/>
        </p:nvSpPr>
        <p:spPr>
          <a:xfrm>
            <a:off x="3562350" y="3198495"/>
            <a:ext cx="8686800" cy="457200"/>
          </a:xfrm>
          <a:prstGeom prst="rect">
            <a:avLst/>
          </a:prstGeom>
          <a:solidFill>
            <a:srgbClr val="0E5C5A"/>
          </a:solidFill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0EA9FA-8B17-4C7D-8614-90A9040298F5}"/>
              </a:ext>
            </a:extLst>
          </p:cNvPr>
          <p:cNvSpPr>
            <a:spLocks noGrp="1"/>
          </p:cNvSpPr>
          <p:nvPr/>
        </p:nvSpPr>
        <p:spPr>
          <a:xfrm>
            <a:off x="12420600" y="320040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2616B"/>
                </a:solidFill>
              </a:defRPr>
            </a:pPr>
            <a:r>
              <a:rPr sz="1800" b="0" i="0">
                <a:solidFill>
                  <a:srgbClr val="52616B"/>
                </a:solidFill>
              </a:rPr>
              <a:t>project plan, scope, next steps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7415FB-8EF0-4713-84D5-4285C509D1FB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MVP UI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81FC96-C3E3-48D6-9E5D-50201916DC1D}"/>
              </a:ext>
            </a:extLst>
          </p:cNvPr>
          <p:cNvSpPr>
            <a:spLocks noGrp="1"/>
          </p:cNvSpPr>
          <p:nvPr/>
        </p:nvSpPr>
        <p:spPr>
          <a:xfrm>
            <a:off x="3562350" y="4303395"/>
            <a:ext cx="86868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B0E95E4-842E-4D84-8F47-7494BC8969ED}"/>
              </a:ext>
            </a:extLst>
          </p:cNvPr>
          <p:cNvSpPr>
            <a:spLocks noGrp="1"/>
          </p:cNvSpPr>
          <p:nvPr/>
        </p:nvSpPr>
        <p:spPr>
          <a:xfrm>
            <a:off x="12420600" y="430530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2616B"/>
                </a:solidFill>
              </a:defRPr>
            </a:pPr>
            <a:r>
              <a:rPr sz="1800" b="0" i="0">
                <a:solidFill>
                  <a:srgbClr val="52616B"/>
                </a:solidFill>
              </a:rPr>
              <a:t>upload, preview, key selection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6B33446-BF17-4DD8-B441-E7F2A7C66E1C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Mapping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BCBBCE8-8FA5-4E6F-8673-831A9439C9AF}"/>
              </a:ext>
            </a:extLst>
          </p:cNvPr>
          <p:cNvSpPr>
            <a:spLocks noGrp="1"/>
          </p:cNvSpPr>
          <p:nvPr/>
        </p:nvSpPr>
        <p:spPr>
          <a:xfrm>
            <a:off x="3562350" y="5408295"/>
            <a:ext cx="8686800" cy="45720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59378E-FAE7-479E-92D8-357D7732EF0C}"/>
              </a:ext>
            </a:extLst>
          </p:cNvPr>
          <p:cNvSpPr>
            <a:spLocks noGrp="1"/>
          </p:cNvSpPr>
          <p:nvPr/>
        </p:nvSpPr>
        <p:spPr>
          <a:xfrm>
            <a:off x="12420600" y="541020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2616B"/>
                </a:solidFill>
              </a:defRPr>
            </a:pPr>
            <a:r>
              <a:rPr sz="1800" b="0" i="0">
                <a:solidFill>
                  <a:srgbClr val="52616B"/>
                </a:solidFill>
              </a:rPr>
              <a:t>field mapping, JSON save/restore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A058BCA-A5B3-4931-AA30-83860BE84E57}"/>
              </a:ext>
            </a:extLst>
          </p:cNvPr>
          <p:cNvSpPr>
            <a:spLocks noGrp="1"/>
          </p:cNvSpPr>
          <p:nvPr/>
        </p:nvSpPr>
        <p:spPr>
          <a:xfrm>
            <a:off x="914400" y="651510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Data engine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197505E-4672-40DD-9956-E97FE6924535}"/>
              </a:ext>
            </a:extLst>
          </p:cNvPr>
          <p:cNvSpPr>
            <a:spLocks noGrp="1"/>
          </p:cNvSpPr>
          <p:nvPr/>
        </p:nvSpPr>
        <p:spPr>
          <a:xfrm>
            <a:off x="3562350" y="6513195"/>
            <a:ext cx="8686800" cy="457200"/>
          </a:xfrm>
          <a:prstGeom prst="rect">
            <a:avLst/>
          </a:prstGeom>
          <a:solidFill>
            <a:srgbClr val="F3B23C"/>
          </a:solidFill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45FAAC7-275A-4E57-BD32-0884792147DF}"/>
              </a:ext>
            </a:extLst>
          </p:cNvPr>
          <p:cNvSpPr>
            <a:spLocks noGrp="1"/>
          </p:cNvSpPr>
          <p:nvPr/>
        </p:nvSpPr>
        <p:spPr>
          <a:xfrm>
            <a:off x="12420600" y="651510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2616B"/>
                </a:solidFill>
              </a:defRPr>
            </a:pPr>
            <a:r>
              <a:rPr sz="1800" b="0" i="0">
                <a:solidFill>
                  <a:srgbClr val="52616B"/>
                </a:solidFill>
              </a:rPr>
              <a:t>DuckDB, Parquet, JSON/Excel input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70C4EC-73F4-45F9-9800-77F222F07866}"/>
              </a:ext>
            </a:extLst>
          </p:cNvPr>
          <p:cNvSpPr>
            <a:spLocks noGrp="1"/>
          </p:cNvSpPr>
          <p:nvPr/>
        </p:nvSpPr>
        <p:spPr>
          <a:xfrm>
            <a:off x="914400" y="762000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Reporting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D83538E-4663-46F4-963B-5F5AA09ACE08}"/>
              </a:ext>
            </a:extLst>
          </p:cNvPr>
          <p:cNvSpPr>
            <a:spLocks noGrp="1"/>
          </p:cNvSpPr>
          <p:nvPr/>
        </p:nvSpPr>
        <p:spPr>
          <a:xfrm>
            <a:off x="3562350" y="7618095"/>
            <a:ext cx="8686800" cy="457200"/>
          </a:xfrm>
          <a:prstGeom prst="rect">
            <a:avLst/>
          </a:prstGeom>
          <a:solidFill>
            <a:srgbClr val="4FA39B"/>
          </a:solidFill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193B153-2FAD-432B-BA20-26BD8D62C4BC}"/>
              </a:ext>
            </a:extLst>
          </p:cNvPr>
          <p:cNvSpPr>
            <a:spLocks noGrp="1"/>
          </p:cNvSpPr>
          <p:nvPr/>
        </p:nvSpPr>
        <p:spPr>
          <a:xfrm>
            <a:off x="12420600" y="7620000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52616B"/>
                </a:solidFill>
              </a:defRPr>
            </a:pPr>
            <a:r>
              <a:rPr sz="1800" b="0" i="0">
                <a:solidFill>
                  <a:srgbClr val="52616B"/>
                </a:solidFill>
              </a:rPr>
              <a:t>Excel result export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0816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ge">
            <a:extLst>
              <a:ext uri="{FF2B5EF4-FFF2-40B4-BE49-F238E27FC236}">
                <a16:creationId xmlns:a16="http://schemas.microsoft.com/office/drawing/2014/main" id="{F95D482D-D976-4F2D-896E-9BAE69ACD2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AD0B7E-510F-422B-8C05-DE08232917C3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AI Agents Helped Under My Supervision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166E0A-9620-4E1B-B0D1-8A778BEBE06D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10953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AI assistance was used as a supervised development partner, while I made project decisions and tested the result.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E84C1B4-5E7E-4F31-AD7C-A42F279C2539}"/>
              </a:ext>
            </a:extLst>
          </p:cNvPr>
          <p:cNvSpPr>
            <a:spLocks noGrp="1"/>
          </p:cNvSpPr>
          <p:nvPr/>
        </p:nvSpPr>
        <p:spPr>
          <a:xfrm>
            <a:off x="914400" y="477964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5073EA-5499-4B88-93E3-1843D6CAA172}"/>
              </a:ext>
            </a:extLst>
          </p:cNvPr>
          <p:cNvSpPr>
            <a:spLocks noGrp="1"/>
          </p:cNvSpPr>
          <p:nvPr/>
        </p:nvSpPr>
        <p:spPr>
          <a:xfrm>
            <a:off x="1181100" y="478155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Helped read project documents and prepare next steps.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524AE41-A830-4E3C-B0F7-5978CACA7118}"/>
              </a:ext>
            </a:extLst>
          </p:cNvPr>
          <p:cNvSpPr>
            <a:spLocks noGrp="1"/>
          </p:cNvSpPr>
          <p:nvPr/>
        </p:nvSpPr>
        <p:spPr>
          <a:xfrm>
            <a:off x="914400" y="53701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3E3F7C-3D46-4F8D-A97E-405977CED99E}"/>
              </a:ext>
            </a:extLst>
          </p:cNvPr>
          <p:cNvSpPr>
            <a:spLocks noGrp="1"/>
          </p:cNvSpPr>
          <p:nvPr/>
        </p:nvSpPr>
        <p:spPr>
          <a:xfrm>
            <a:off x="1181100" y="53721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Generated code suggestions and implementation drafts.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4385DEC-FA86-4108-BA1E-5B99FF54BEEB}"/>
              </a:ext>
            </a:extLst>
          </p:cNvPr>
          <p:cNvSpPr>
            <a:spLocks noGrp="1"/>
          </p:cNvSpPr>
          <p:nvPr/>
        </p:nvSpPr>
        <p:spPr>
          <a:xfrm>
            <a:off x="914400" y="596074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A0E29-5AAC-409A-8754-85A98BE4B6D9}"/>
              </a:ext>
            </a:extLst>
          </p:cNvPr>
          <p:cNvSpPr>
            <a:spLocks noGrp="1"/>
          </p:cNvSpPr>
          <p:nvPr/>
        </p:nvSpPr>
        <p:spPr>
          <a:xfrm>
            <a:off x="1181100" y="596265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Helped debug issues and improve the user flow.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E384EBA2-F5E1-4596-AA13-C994A97BFCFF}"/>
              </a:ext>
            </a:extLst>
          </p:cNvPr>
          <p:cNvSpPr>
            <a:spLocks noGrp="1"/>
          </p:cNvSpPr>
          <p:nvPr/>
        </p:nvSpPr>
        <p:spPr>
          <a:xfrm>
            <a:off x="914400" y="65512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5FFF6A7-1613-4F17-BB66-E862DE73B5FC}"/>
              </a:ext>
            </a:extLst>
          </p:cNvPr>
          <p:cNvSpPr>
            <a:spLocks noGrp="1"/>
          </p:cNvSpPr>
          <p:nvPr/>
        </p:nvSpPr>
        <p:spPr>
          <a:xfrm>
            <a:off x="1181100" y="65532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Prepared documentation and this presentation draft.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509229-55F9-4231-994A-978311190D45}"/>
              </a:ext>
            </a:extLst>
          </p:cNvPr>
          <p:cNvSpPr>
            <a:spLocks noGrp="1"/>
          </p:cNvSpPr>
          <p:nvPr/>
        </p:nvSpPr>
        <p:spPr>
          <a:xfrm>
            <a:off x="9410700" y="4762500"/>
            <a:ext cx="79819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 i="0">
                <a:solidFill>
                  <a:srgbClr val="0E5C5A"/>
                </a:solidFill>
              </a:defRPr>
            </a:pPr>
            <a:r>
              <a:rPr sz="3300" b="1" i="0">
                <a:solidFill>
                  <a:srgbClr val="0E5C5A"/>
                </a:solidFill>
              </a:rPr>
              <a:t>My supervision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A625A49-1671-4C10-BE63-9DCAEBF54B9F}"/>
              </a:ext>
            </a:extLst>
          </p:cNvPr>
          <p:cNvSpPr>
            <a:spLocks noGrp="1"/>
          </p:cNvSpPr>
          <p:nvPr/>
        </p:nvSpPr>
        <p:spPr>
          <a:xfrm>
            <a:off x="9410700" y="5524500"/>
            <a:ext cx="1714500" cy="47625"/>
          </a:xfrm>
          <a:prstGeom prst="rect">
            <a:avLst/>
          </a:prstGeom>
          <a:solidFill>
            <a:srgbClr val="F3B23C"/>
          </a:solidFill>
          <a:ln w="0">
            <a:solidFill>
              <a:srgbClr val="F3B23C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4A6A7E4-5222-4564-ABE7-2610358641B1}"/>
              </a:ext>
            </a:extLst>
          </p:cNvPr>
          <p:cNvSpPr>
            <a:spLocks noGrp="1"/>
          </p:cNvSpPr>
          <p:nvPr/>
        </p:nvSpPr>
        <p:spPr>
          <a:xfrm>
            <a:off x="9410700" y="5810250"/>
            <a:ext cx="60007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 i="0">
                <a:solidFill>
                  <a:srgbClr val="111827"/>
                </a:solidFill>
              </a:defRPr>
            </a:pPr>
            <a:r>
              <a:rPr sz="2400" b="0" i="0">
                <a:solidFill>
                  <a:srgbClr val="111827"/>
                </a:solidFill>
              </a:rPr>
              <a:t>I selected the features, checked the behavior, approved changes, tested the Streamlit app, and kept the project aligned with the study goal.</a:t>
            </a:r>
          </a:p>
        </p:txBody>
      </p:sp>
    </p:spTree>
    <p:extLst>
      <p:ext uri="{BB962C8B-B14F-4D97-AF65-F5344CB8AC3E}">
        <p14:creationId xmlns:p14="http://schemas.microsoft.com/office/powerpoint/2010/main" val="100725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age">
            <a:extLst>
              <a:ext uri="{FF2B5EF4-FFF2-40B4-BE49-F238E27FC236}">
                <a16:creationId xmlns:a16="http://schemas.microsoft.com/office/drawing/2014/main" id="{07E8CC30-898C-447F-94A7-FEB1E395BD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D067449-07DF-4D2A-B7DA-45991AE00FB9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What I Learned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7A63406-97FD-49D2-BC04-4D2C0B211949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7524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project connected application development with practical data validation.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694966-F2D0-4CED-86E2-913BE21B6C77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80010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>
                <a:solidFill>
                  <a:srgbClr val="0E5C5A"/>
                </a:solidFill>
              </a:rPr>
              <a:t>CSV, JSON, Excel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4BBD03-4F1C-4C67-AA7E-4E876EEF239A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800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Data formats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403A6B6-036E-4B46-9A3A-F95896079911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80010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Parquet for faster processing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C728AA-BA00-46C6-9270-DACC46FD934D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800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Performance idea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F776E81-0B36-4BD4-90A6-C9988EF185CB}"/>
              </a:ext>
            </a:extLst>
          </p:cNvPr>
          <p:cNvSpPr>
            <a:spLocks noGrp="1"/>
          </p:cNvSpPr>
          <p:nvPr/>
        </p:nvSpPr>
        <p:spPr>
          <a:xfrm>
            <a:off x="914400" y="6705600"/>
            <a:ext cx="80010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>
                <a:solidFill>
                  <a:srgbClr val="E76F51"/>
                </a:solidFill>
              </a:rPr>
              <a:t>DuckDB for file-based comparison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CCB586-2E92-4492-AEB5-C063BC821286}"/>
              </a:ext>
            </a:extLst>
          </p:cNvPr>
          <p:cNvSpPr>
            <a:spLocks noGrp="1"/>
          </p:cNvSpPr>
          <p:nvPr/>
        </p:nvSpPr>
        <p:spPr>
          <a:xfrm>
            <a:off x="914400" y="7429500"/>
            <a:ext cx="8001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SQL engine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9FAAD3E-9F50-4171-B037-8AF149557852}"/>
              </a:ext>
            </a:extLst>
          </p:cNvPr>
          <p:cNvSpPr>
            <a:spLocks noGrp="1"/>
          </p:cNvSpPr>
          <p:nvPr/>
        </p:nvSpPr>
        <p:spPr>
          <a:xfrm>
            <a:off x="9372600" y="49510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021135-FD4C-417E-895D-CF437766DB11}"/>
              </a:ext>
            </a:extLst>
          </p:cNvPr>
          <p:cNvSpPr>
            <a:spLocks noGrp="1"/>
          </p:cNvSpPr>
          <p:nvPr/>
        </p:nvSpPr>
        <p:spPr>
          <a:xfrm>
            <a:off x="9639300" y="4953000"/>
            <a:ext cx="7734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Why IDs and codes should stay as text.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DB9C9B9-CD4D-4182-AF3D-833D68FB55A0}"/>
              </a:ext>
            </a:extLst>
          </p:cNvPr>
          <p:cNvSpPr>
            <a:spLocks noGrp="1"/>
          </p:cNvSpPr>
          <p:nvPr/>
        </p:nvSpPr>
        <p:spPr>
          <a:xfrm>
            <a:off x="9372600" y="55225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9A70BB-554A-4CF5-B5B9-391AEE3A576F}"/>
              </a:ext>
            </a:extLst>
          </p:cNvPr>
          <p:cNvSpPr>
            <a:spLocks noGrp="1"/>
          </p:cNvSpPr>
          <p:nvPr/>
        </p:nvSpPr>
        <p:spPr>
          <a:xfrm>
            <a:off x="9639300" y="5524500"/>
            <a:ext cx="7734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How field mapping reduces schema differences.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EC15D969-E255-4351-B433-59F5ED86153C}"/>
              </a:ext>
            </a:extLst>
          </p:cNvPr>
          <p:cNvSpPr>
            <a:spLocks noGrp="1"/>
          </p:cNvSpPr>
          <p:nvPr/>
        </p:nvSpPr>
        <p:spPr>
          <a:xfrm>
            <a:off x="9372600" y="60940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C5F4AF3-D4BB-49D6-813E-CC54E44AA699}"/>
              </a:ext>
            </a:extLst>
          </p:cNvPr>
          <p:cNvSpPr>
            <a:spLocks noGrp="1"/>
          </p:cNvSpPr>
          <p:nvPr/>
        </p:nvSpPr>
        <p:spPr>
          <a:xfrm>
            <a:off x="9639300" y="6096000"/>
            <a:ext cx="7734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How small sample data helps prove logic before large files.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07D7C2F8-225C-47CE-907B-34F33569F01C}"/>
              </a:ext>
            </a:extLst>
          </p:cNvPr>
          <p:cNvSpPr>
            <a:spLocks noGrp="1"/>
          </p:cNvSpPr>
          <p:nvPr/>
        </p:nvSpPr>
        <p:spPr>
          <a:xfrm>
            <a:off x="9372600" y="66655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472BA40-7455-46FB-9940-CCBE03D644CF}"/>
              </a:ext>
            </a:extLst>
          </p:cNvPr>
          <p:cNvSpPr>
            <a:spLocks noGrp="1"/>
          </p:cNvSpPr>
          <p:nvPr/>
        </p:nvSpPr>
        <p:spPr>
          <a:xfrm>
            <a:off x="9639300" y="6667500"/>
            <a:ext cx="7734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How documentation improves project quality.</a:t>
            </a:r>
          </a:p>
        </p:txBody>
      </p:sp>
    </p:spTree>
    <p:extLst>
      <p:ext uri="{BB962C8B-B14F-4D97-AF65-F5344CB8AC3E}">
        <p14:creationId xmlns:p14="http://schemas.microsoft.com/office/powerpoint/2010/main" val="126752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ge">
            <a:extLst>
              <a:ext uri="{FF2B5EF4-FFF2-40B4-BE49-F238E27FC236}">
                <a16:creationId xmlns:a16="http://schemas.microsoft.com/office/drawing/2014/main" id="{4EC04102-1E9A-402E-9E02-3019190091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AA5CCBA-B538-4BC2-9B3B-9B3B08D467B0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Challenges And Solutions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EF0382-C217-4F74-A2FD-CCB80EEB12F2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94869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Most challenges came from turning a plan into a real workflow that works with different file types.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3FB61D-5F0B-4947-9798-423343BECAB1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3143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E76F51"/>
                </a:solidFill>
              </a:defRPr>
            </a:pPr>
            <a:r>
              <a:rPr sz="2250" b="1" i="0">
                <a:solidFill>
                  <a:srgbClr val="E76F51"/>
                </a:solidFill>
              </a:rPr>
              <a:t>Challenge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AF3573-543B-4FB7-B3B7-961697BD11CE}"/>
              </a:ext>
            </a:extLst>
          </p:cNvPr>
          <p:cNvSpPr>
            <a:spLocks noGrp="1"/>
          </p:cNvSpPr>
          <p:nvPr/>
        </p:nvSpPr>
        <p:spPr>
          <a:xfrm>
            <a:off x="4286250" y="3829050"/>
            <a:ext cx="643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Large CSV files could be slow or memory-heavy.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D84910-21D4-407C-95D9-96F163360ECC}"/>
              </a:ext>
            </a:extLst>
          </p:cNvPr>
          <p:cNvSpPr>
            <a:spLocks noGrp="1"/>
          </p:cNvSpPr>
          <p:nvPr/>
        </p:nvSpPr>
        <p:spPr>
          <a:xfrm>
            <a:off x="10953750" y="3829050"/>
            <a:ext cx="64389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0E5C5A"/>
                </a:solidFill>
              </a:defRPr>
            </a:pPr>
            <a:r>
              <a:rPr sz="2250" b="0" i="0">
                <a:solidFill>
                  <a:srgbClr val="0E5C5A"/>
                </a:solidFill>
              </a:rPr>
              <a:t>Solution: preview only first rows, then use DuckDB/Parquet for comparison.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6D848D-C659-44F0-B8C1-FA085536058A}"/>
              </a:ext>
            </a:extLst>
          </p:cNvPr>
          <p:cNvSpPr>
            <a:spLocks noGrp="1"/>
          </p:cNvSpPr>
          <p:nvPr/>
        </p:nvSpPr>
        <p:spPr>
          <a:xfrm>
            <a:off x="914400" y="5181600"/>
            <a:ext cx="16459200" cy="19050"/>
          </a:xfrm>
          <a:prstGeom prst="rect">
            <a:avLst/>
          </a:prstGeom>
          <a:solidFill>
            <a:srgbClr val="CBD5D1"/>
          </a:solidFill>
          <a:ln w="0">
            <a:solidFill>
              <a:srgbClr val="CBD5D1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E87EEF-E80F-40D0-A0F5-9ADE9EDF3D05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3143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E76F51"/>
                </a:solidFill>
              </a:defRPr>
            </a:pPr>
            <a:r>
              <a:rPr sz="2250" b="1" i="0">
                <a:solidFill>
                  <a:srgbClr val="E76F51"/>
                </a:solidFill>
              </a:rPr>
              <a:t>Challenge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CAB8A27-803F-4435-9068-8E20FD7EC1A3}"/>
              </a:ext>
            </a:extLst>
          </p:cNvPr>
          <p:cNvSpPr>
            <a:spLocks noGrp="1"/>
          </p:cNvSpPr>
          <p:nvPr/>
        </p:nvSpPr>
        <p:spPr>
          <a:xfrm>
            <a:off x="4286250" y="5410200"/>
            <a:ext cx="643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Different systems use different column names.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3443A9B-762C-4D2D-B0EB-83B28BCF34AC}"/>
              </a:ext>
            </a:extLst>
          </p:cNvPr>
          <p:cNvSpPr>
            <a:spLocks noGrp="1"/>
          </p:cNvSpPr>
          <p:nvPr/>
        </p:nvSpPr>
        <p:spPr>
          <a:xfrm>
            <a:off x="10953750" y="5410200"/>
            <a:ext cx="64389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0E5C5A"/>
                </a:solidFill>
              </a:defRPr>
            </a:pPr>
            <a:r>
              <a:rPr sz="2250" b="0" i="0">
                <a:solidFill>
                  <a:srgbClr val="0E5C5A"/>
                </a:solidFill>
              </a:rPr>
              <a:t>Solution: field mapping screen with JSON save and restore.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7DA91B1-7187-49B9-8063-A226C12E6D22}"/>
              </a:ext>
            </a:extLst>
          </p:cNvPr>
          <p:cNvSpPr>
            <a:spLocks noGrp="1"/>
          </p:cNvSpPr>
          <p:nvPr/>
        </p:nvSpPr>
        <p:spPr>
          <a:xfrm>
            <a:off x="914400" y="6762750"/>
            <a:ext cx="16459200" cy="19050"/>
          </a:xfrm>
          <a:prstGeom prst="rect">
            <a:avLst/>
          </a:prstGeom>
          <a:solidFill>
            <a:srgbClr val="CBD5D1"/>
          </a:solidFill>
          <a:ln w="0">
            <a:solidFill>
              <a:srgbClr val="CBD5D1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B2F611A-4686-4515-951E-AE682B836356}"/>
              </a:ext>
            </a:extLst>
          </p:cNvPr>
          <p:cNvSpPr>
            <a:spLocks noGrp="1"/>
          </p:cNvSpPr>
          <p:nvPr/>
        </p:nvSpPr>
        <p:spPr>
          <a:xfrm>
            <a:off x="914400" y="6991350"/>
            <a:ext cx="3143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E76F51"/>
                </a:solidFill>
              </a:defRPr>
            </a:pPr>
            <a:r>
              <a:rPr sz="2250" b="1" i="0">
                <a:solidFill>
                  <a:srgbClr val="E76F51"/>
                </a:solidFill>
              </a:rPr>
              <a:t>Challenge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01789C7-56CF-4883-9344-5B993F0AB578}"/>
              </a:ext>
            </a:extLst>
          </p:cNvPr>
          <p:cNvSpPr>
            <a:spLocks noGrp="1"/>
          </p:cNvSpPr>
          <p:nvPr/>
        </p:nvSpPr>
        <p:spPr>
          <a:xfrm>
            <a:off x="4286250" y="6991350"/>
            <a:ext cx="6438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Users may have JSON or Excel, not only CSV.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F19B5E4-4027-423D-8B22-BD5D0F33EFC9}"/>
              </a:ext>
            </a:extLst>
          </p:cNvPr>
          <p:cNvSpPr>
            <a:spLocks noGrp="1"/>
          </p:cNvSpPr>
          <p:nvPr/>
        </p:nvSpPr>
        <p:spPr>
          <a:xfrm>
            <a:off x="10953750" y="6991350"/>
            <a:ext cx="64389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0E5C5A"/>
                </a:solidFill>
              </a:defRPr>
            </a:pPr>
            <a:r>
              <a:rPr sz="2250" b="0" i="0">
                <a:solidFill>
                  <a:srgbClr val="0E5C5A"/>
                </a:solidFill>
              </a:rPr>
              <a:t>Solution: flatten JSON and read the first Excel sheet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59902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tage">
            <a:extLst>
              <a:ext uri="{FF2B5EF4-FFF2-40B4-BE49-F238E27FC236}">
                <a16:creationId xmlns:a16="http://schemas.microsoft.com/office/drawing/2014/main" id="{01D7EAA6-AA9E-4564-B3D4-CCA1FE2740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481545-826F-457E-94B0-7D3C18D508FC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Product Demonstration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22D5C8-DB5F-475C-9D0C-AD89B3928E81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76009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Suggested live demo: show the full workflow with the sample files in Streamlit.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AD75A0A-26E3-4804-B001-4D4DFCA6925F}"/>
              </a:ext>
            </a:extLst>
          </p:cNvPr>
          <p:cNvSpPr>
            <a:spLocks noGrp="1"/>
          </p:cNvSpPr>
          <p:nvPr/>
        </p:nvSpPr>
        <p:spPr>
          <a:xfrm>
            <a:off x="914400" y="442722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6C4DB18-022F-4959-A26F-9A391D5E9A7D}"/>
              </a:ext>
            </a:extLst>
          </p:cNvPr>
          <p:cNvSpPr>
            <a:spLocks noGrp="1"/>
          </p:cNvSpPr>
          <p:nvPr/>
        </p:nvSpPr>
        <p:spPr>
          <a:xfrm>
            <a:off x="1181100" y="4419600"/>
            <a:ext cx="9201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Open the app at localhost:8501.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B53DAB33-DD6F-40CF-9632-B632D496F278}"/>
              </a:ext>
            </a:extLst>
          </p:cNvPr>
          <p:cNvSpPr>
            <a:spLocks noGrp="1"/>
          </p:cNvSpPr>
          <p:nvPr/>
        </p:nvSpPr>
        <p:spPr>
          <a:xfrm>
            <a:off x="914400" y="49796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B93F39-D095-4272-9F70-7F1263EBD56F}"/>
              </a:ext>
            </a:extLst>
          </p:cNvPr>
          <p:cNvSpPr>
            <a:spLocks noGrp="1"/>
          </p:cNvSpPr>
          <p:nvPr/>
        </p:nvSpPr>
        <p:spPr>
          <a:xfrm>
            <a:off x="1181100" y="4972050"/>
            <a:ext cx="9201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Upload Dataset A and Dataset B.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8362D58-640F-4605-B77C-7FBE8D61D4F2}"/>
              </a:ext>
            </a:extLst>
          </p:cNvPr>
          <p:cNvSpPr>
            <a:spLocks noGrp="1"/>
          </p:cNvSpPr>
          <p:nvPr/>
        </p:nvSpPr>
        <p:spPr>
          <a:xfrm>
            <a:off x="914400" y="553212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975B36-91D2-4A4E-98F2-2F541B8392DA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9201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Select key columns: customer_id and cust_no.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DC38118-CA0D-4D6D-B664-EA6E8CACBA2C}"/>
              </a:ext>
            </a:extLst>
          </p:cNvPr>
          <p:cNvSpPr>
            <a:spLocks noGrp="1"/>
          </p:cNvSpPr>
          <p:nvPr/>
        </p:nvSpPr>
        <p:spPr>
          <a:xfrm>
            <a:off x="914400" y="60845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ED054B-C3C8-42E3-8DA1-861B148EF0C5}"/>
              </a:ext>
            </a:extLst>
          </p:cNvPr>
          <p:cNvSpPr>
            <a:spLocks noGrp="1"/>
          </p:cNvSpPr>
          <p:nvPr/>
        </p:nvSpPr>
        <p:spPr>
          <a:xfrm>
            <a:off x="1181100" y="6076950"/>
            <a:ext cx="9201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Map fields and mark comparison fields.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B0DF31D3-FFE3-43F6-942C-7DBE92A11956}"/>
              </a:ext>
            </a:extLst>
          </p:cNvPr>
          <p:cNvSpPr>
            <a:spLocks noGrp="1"/>
          </p:cNvSpPr>
          <p:nvPr/>
        </p:nvSpPr>
        <p:spPr>
          <a:xfrm>
            <a:off x="914400" y="663702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9409A4-5708-4D2E-AEBD-29E75738BCB4}"/>
              </a:ext>
            </a:extLst>
          </p:cNvPr>
          <p:cNvSpPr>
            <a:spLocks noGrp="1"/>
          </p:cNvSpPr>
          <p:nvPr/>
        </p:nvSpPr>
        <p:spPr>
          <a:xfrm>
            <a:off x="1181100" y="6629400"/>
            <a:ext cx="9201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Run DuckDB comparison.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9C25EFE8-1A75-4353-AA72-0466EAFFDCCA}"/>
              </a:ext>
            </a:extLst>
          </p:cNvPr>
          <p:cNvSpPr>
            <a:spLocks noGrp="1"/>
          </p:cNvSpPr>
          <p:nvPr/>
        </p:nvSpPr>
        <p:spPr>
          <a:xfrm>
            <a:off x="914400" y="718947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DF09257-347E-4D5D-85AC-00530CD44099}"/>
              </a:ext>
            </a:extLst>
          </p:cNvPr>
          <p:cNvSpPr>
            <a:spLocks noGrp="1"/>
          </p:cNvSpPr>
          <p:nvPr/>
        </p:nvSpPr>
        <p:spPr>
          <a:xfrm>
            <a:off x="1181100" y="7181850"/>
            <a:ext cx="9201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Download the Excel report.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5DB9CD8-DA47-4A99-9A66-54AA748CF133}"/>
              </a:ext>
            </a:extLst>
          </p:cNvPr>
          <p:cNvSpPr>
            <a:spLocks noGrp="1"/>
          </p:cNvSpPr>
          <p:nvPr/>
        </p:nvSpPr>
        <p:spPr>
          <a:xfrm>
            <a:off x="10896600" y="2358390"/>
            <a:ext cx="6477000" cy="4953000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0799918-B211-43BE-A046-3331360B4B07}"/>
              </a:ext>
            </a:extLst>
          </p:cNvPr>
          <p:cNvSpPr>
            <a:spLocks noGrp="1"/>
          </p:cNvSpPr>
          <p:nvPr/>
        </p:nvSpPr>
        <p:spPr>
          <a:xfrm>
            <a:off x="11125200" y="2571750"/>
            <a:ext cx="6019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Dataset Comparison Tool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25A7990-CB39-4264-A9D2-17C206E0F315}"/>
              </a:ext>
            </a:extLst>
          </p:cNvPr>
          <p:cNvSpPr>
            <a:spLocks noGrp="1"/>
          </p:cNvSpPr>
          <p:nvPr/>
        </p:nvSpPr>
        <p:spPr>
          <a:xfrm>
            <a:off x="11125200" y="3044190"/>
            <a:ext cx="2933700" cy="590550"/>
          </a:xfrm>
          <a:prstGeom prst="rect">
            <a:avLst/>
          </a:prstGeom>
          <a:solidFill>
            <a:srgbClr val="29313D"/>
          </a:solidFill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970A3A8-B513-4FDC-AF17-A666B0A94CBD}"/>
              </a:ext>
            </a:extLst>
          </p:cNvPr>
          <p:cNvSpPr>
            <a:spLocks noGrp="1"/>
          </p:cNvSpPr>
          <p:nvPr/>
        </p:nvSpPr>
        <p:spPr>
          <a:xfrm>
            <a:off x="11125200" y="3048000"/>
            <a:ext cx="2933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DDE7F0"/>
                </a:solidFill>
              </a:defRPr>
            </a:pPr>
            <a:r>
              <a:rPr sz="1650" b="0" i="0">
                <a:solidFill>
                  <a:srgbClr val="DDE7F0"/>
                </a:solidFill>
              </a:rPr>
              <a:t>Upload 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8B86587-D254-400C-938D-EC10E97BBB50}"/>
              </a:ext>
            </a:extLst>
          </p:cNvPr>
          <p:cNvSpPr>
            <a:spLocks noGrp="1"/>
          </p:cNvSpPr>
          <p:nvPr/>
        </p:nvSpPr>
        <p:spPr>
          <a:xfrm>
            <a:off x="14211300" y="3044190"/>
            <a:ext cx="2933700" cy="590550"/>
          </a:xfrm>
          <a:prstGeom prst="rect">
            <a:avLst/>
          </a:prstGeom>
          <a:solidFill>
            <a:srgbClr val="29313D"/>
          </a:solidFill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D0C75F7-8ABC-486C-A80D-AE6059E62560}"/>
              </a:ext>
            </a:extLst>
          </p:cNvPr>
          <p:cNvSpPr>
            <a:spLocks noGrp="1"/>
          </p:cNvSpPr>
          <p:nvPr/>
        </p:nvSpPr>
        <p:spPr>
          <a:xfrm>
            <a:off x="14211300" y="3048000"/>
            <a:ext cx="2933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DDE7F0"/>
                </a:solidFill>
              </a:defRPr>
            </a:pPr>
            <a:r>
              <a:rPr sz="1650" b="0" i="0">
                <a:solidFill>
                  <a:srgbClr val="DDE7F0"/>
                </a:solidFill>
              </a:rPr>
              <a:t>Upload 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73AC7FA-D7FD-437C-9B5C-754013887CF0}"/>
              </a:ext>
            </a:extLst>
          </p:cNvPr>
          <p:cNvSpPr>
            <a:spLocks noGrp="1"/>
          </p:cNvSpPr>
          <p:nvPr/>
        </p:nvSpPr>
        <p:spPr>
          <a:xfrm>
            <a:off x="11125200" y="3768090"/>
            <a:ext cx="6019800" cy="990600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E4C1FE7-D8D9-4C97-9839-7DAFF4634347}"/>
              </a:ext>
            </a:extLst>
          </p:cNvPr>
          <p:cNvSpPr>
            <a:spLocks noGrp="1"/>
          </p:cNvSpPr>
          <p:nvPr/>
        </p:nvSpPr>
        <p:spPr>
          <a:xfrm>
            <a:off x="11315700" y="3905250"/>
            <a:ext cx="5638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F0"/>
                </a:solidFill>
              </a:defRPr>
            </a:pPr>
            <a:r>
              <a:rPr sz="1800" b="0" i="0">
                <a:solidFill>
                  <a:srgbClr val="DDE7F0"/>
                </a:solidFill>
              </a:rPr>
              <a:t>Preview tables + key selection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D91E582-89C9-45BB-84D3-7457A4A8861D}"/>
              </a:ext>
            </a:extLst>
          </p:cNvPr>
          <p:cNvSpPr>
            <a:spLocks noGrp="1"/>
          </p:cNvSpPr>
          <p:nvPr/>
        </p:nvSpPr>
        <p:spPr>
          <a:xfrm>
            <a:off x="11125200" y="4892040"/>
            <a:ext cx="6019800" cy="990600"/>
          </a:xfrm>
          <a:prstGeom prst="rect">
            <a:avLst/>
          </a:prstGeom>
          <a:solidFill>
            <a:srgbClr val="23343B"/>
          </a:solidFill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4BAC802-086B-468B-82ED-3FAD088549BA}"/>
              </a:ext>
            </a:extLst>
          </p:cNvPr>
          <p:cNvSpPr>
            <a:spLocks noGrp="1"/>
          </p:cNvSpPr>
          <p:nvPr/>
        </p:nvSpPr>
        <p:spPr>
          <a:xfrm>
            <a:off x="11315700" y="5029200"/>
            <a:ext cx="5638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 i="0">
                <a:solidFill>
                  <a:srgbClr val="DDE7F0"/>
                </a:solidFill>
              </a:defRPr>
            </a:pPr>
            <a:r>
              <a:rPr sz="1800" b="0" i="0">
                <a:solidFill>
                  <a:srgbClr val="DDE7F0"/>
                </a:solidFill>
              </a:rPr>
              <a:t>Field mapping JSON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539F7F3-F6ED-4E9B-87DE-CC5D482E2107}"/>
              </a:ext>
            </a:extLst>
          </p:cNvPr>
          <p:cNvSpPr>
            <a:spLocks noGrp="1"/>
          </p:cNvSpPr>
          <p:nvPr/>
        </p:nvSpPr>
        <p:spPr>
          <a:xfrm>
            <a:off x="11125200" y="6015990"/>
            <a:ext cx="6019800" cy="685800"/>
          </a:xfrm>
          <a:prstGeom prst="rect">
            <a:avLst/>
          </a:prstGeom>
          <a:solidFill>
            <a:srgbClr val="0E5C5A"/>
          </a:solidFill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666472D-EBE8-48DF-B9A4-2FD1825F1874}"/>
              </a:ext>
            </a:extLst>
          </p:cNvPr>
          <p:cNvSpPr>
            <a:spLocks noGrp="1"/>
          </p:cNvSpPr>
          <p:nvPr/>
        </p:nvSpPr>
        <p:spPr>
          <a:xfrm>
            <a:off x="11315700" y="6172200"/>
            <a:ext cx="5638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Run comparison  -&gt;  Download Excel</a:t>
            </a:r>
          </a:p>
        </p:txBody>
      </p:sp>
    </p:spTree>
    <p:extLst>
      <p:ext uri="{BB962C8B-B14F-4D97-AF65-F5344CB8AC3E}">
        <p14:creationId xmlns:p14="http://schemas.microsoft.com/office/powerpoint/2010/main" val="1953148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ge">
            <a:extLst>
              <a:ext uri="{FF2B5EF4-FFF2-40B4-BE49-F238E27FC236}">
                <a16:creationId xmlns:a16="http://schemas.microsoft.com/office/drawing/2014/main" id="{644E3157-E58A-49F9-AB15-D6F92EC996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4"/>
          </a:solidFill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CCEE66-671B-4313-A9AC-542C7B47F2F5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Current Status And Next Steps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C8F4CC-AEEC-46AC-BD42-32EFAD295F0B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1141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project has a working comparison workflow. The next improvements would make it more robust and user friendly.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9939C-63CB-46B4-80BA-D40E61CC5889}"/>
              </a:ext>
            </a:extLst>
          </p:cNvPr>
          <p:cNvSpPr>
            <a:spLocks noGrp="1"/>
          </p:cNvSpPr>
          <p:nvPr/>
        </p:nvSpPr>
        <p:spPr>
          <a:xfrm>
            <a:off x="914400" y="4438650"/>
            <a:ext cx="79819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 i="0">
                <a:solidFill>
                  <a:srgbClr val="0E5C5A"/>
                </a:solidFill>
              </a:defRPr>
            </a:pPr>
            <a:r>
              <a:rPr sz="3300" b="1" i="0">
                <a:solidFill>
                  <a:srgbClr val="0E5C5A"/>
                </a:solidFill>
              </a:rPr>
              <a:t>Done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595762C5-643C-45A2-B952-C57472EF9640}"/>
              </a:ext>
            </a:extLst>
          </p:cNvPr>
          <p:cNvSpPr>
            <a:spLocks noGrp="1"/>
          </p:cNvSpPr>
          <p:nvPr/>
        </p:nvSpPr>
        <p:spPr>
          <a:xfrm>
            <a:off x="914400" y="51739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D6780EF-CCFF-4361-BC69-3C7DF13A74AE}"/>
              </a:ext>
            </a:extLst>
          </p:cNvPr>
          <p:cNvSpPr>
            <a:spLocks noGrp="1"/>
          </p:cNvSpPr>
          <p:nvPr/>
        </p:nvSpPr>
        <p:spPr>
          <a:xfrm>
            <a:off x="1181100" y="51816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CSV, JSON, and Excel upload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61B6FAC-6B1B-4F1A-85EF-D5597FD57E63}"/>
              </a:ext>
            </a:extLst>
          </p:cNvPr>
          <p:cNvSpPr>
            <a:spLocks noGrp="1"/>
          </p:cNvSpPr>
          <p:nvPr/>
        </p:nvSpPr>
        <p:spPr>
          <a:xfrm>
            <a:off x="914400" y="57454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CF78588-AF42-4D3A-B598-B9387C39D2C9}"/>
              </a:ext>
            </a:extLst>
          </p:cNvPr>
          <p:cNvSpPr>
            <a:spLocks noGrp="1"/>
          </p:cNvSpPr>
          <p:nvPr/>
        </p:nvSpPr>
        <p:spPr>
          <a:xfrm>
            <a:off x="1181100" y="57531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Preview and field mapping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3E66ECD1-0756-4E58-8489-9AFBD70411D5}"/>
              </a:ext>
            </a:extLst>
          </p:cNvPr>
          <p:cNvSpPr>
            <a:spLocks noGrp="1"/>
          </p:cNvSpPr>
          <p:nvPr/>
        </p:nvSpPr>
        <p:spPr>
          <a:xfrm>
            <a:off x="914400" y="63169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837484-15BB-4563-A84B-B54B1F7CA4BB}"/>
              </a:ext>
            </a:extLst>
          </p:cNvPr>
          <p:cNvSpPr>
            <a:spLocks noGrp="1"/>
          </p:cNvSpPr>
          <p:nvPr/>
        </p:nvSpPr>
        <p:spPr>
          <a:xfrm>
            <a:off x="1181100" y="63246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DuckDB/Parquet comparison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49E599AF-0266-47BB-A932-09AF392F67D7}"/>
              </a:ext>
            </a:extLst>
          </p:cNvPr>
          <p:cNvSpPr>
            <a:spLocks noGrp="1"/>
          </p:cNvSpPr>
          <p:nvPr/>
        </p:nvSpPr>
        <p:spPr>
          <a:xfrm>
            <a:off x="914400" y="68884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78ACE64-642C-43B4-8E73-94AFDCB5DD1F}"/>
              </a:ext>
            </a:extLst>
          </p:cNvPr>
          <p:cNvSpPr>
            <a:spLocks noGrp="1"/>
          </p:cNvSpPr>
          <p:nvPr/>
        </p:nvSpPr>
        <p:spPr>
          <a:xfrm>
            <a:off x="1181100" y="68961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Excel report download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EC97EB-A75C-492D-B245-350C10C560C1}"/>
              </a:ext>
            </a:extLst>
          </p:cNvPr>
          <p:cNvSpPr>
            <a:spLocks noGrp="1"/>
          </p:cNvSpPr>
          <p:nvPr/>
        </p:nvSpPr>
        <p:spPr>
          <a:xfrm>
            <a:off x="9391650" y="4438650"/>
            <a:ext cx="79819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 i="0">
                <a:solidFill>
                  <a:srgbClr val="E76F51"/>
                </a:solidFill>
              </a:defRPr>
            </a:pPr>
            <a:r>
              <a:rPr sz="3300" b="1" i="0">
                <a:solidFill>
                  <a:srgbClr val="E76F51"/>
                </a:solidFill>
              </a:rPr>
              <a:t>Next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F4157B1A-817E-4BF6-9BDC-AAF7188BB760}"/>
              </a:ext>
            </a:extLst>
          </p:cNvPr>
          <p:cNvSpPr>
            <a:spLocks noGrp="1"/>
          </p:cNvSpPr>
          <p:nvPr/>
        </p:nvSpPr>
        <p:spPr>
          <a:xfrm>
            <a:off x="9391650" y="51739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66EA379-B3E6-458D-A4C0-2BC406AC2497}"/>
              </a:ext>
            </a:extLst>
          </p:cNvPr>
          <p:cNvSpPr>
            <a:spLocks noGrp="1"/>
          </p:cNvSpPr>
          <p:nvPr/>
        </p:nvSpPr>
        <p:spPr>
          <a:xfrm>
            <a:off x="9658350" y="51816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Duplicate key detection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A014EE4D-58F2-46D2-9CFB-0808AB07D793}"/>
              </a:ext>
            </a:extLst>
          </p:cNvPr>
          <p:cNvSpPr>
            <a:spLocks noGrp="1"/>
          </p:cNvSpPr>
          <p:nvPr/>
        </p:nvSpPr>
        <p:spPr>
          <a:xfrm>
            <a:off x="9391650" y="57454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EBCDF3D-D0D8-44CE-ABD1-441B75602DBD}"/>
              </a:ext>
            </a:extLst>
          </p:cNvPr>
          <p:cNvSpPr>
            <a:spLocks noGrp="1"/>
          </p:cNvSpPr>
          <p:nvPr/>
        </p:nvSpPr>
        <p:spPr>
          <a:xfrm>
            <a:off x="9658350" y="57531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Better charts and visual dashboard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0253C4A-AA25-442B-A274-FBE15AF9403C}"/>
              </a:ext>
            </a:extLst>
          </p:cNvPr>
          <p:cNvSpPr>
            <a:spLocks noGrp="1"/>
          </p:cNvSpPr>
          <p:nvPr/>
        </p:nvSpPr>
        <p:spPr>
          <a:xfrm>
            <a:off x="9391650" y="63169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9DDEAEF-BC29-48D5-B175-48B26D099AB0}"/>
              </a:ext>
            </a:extLst>
          </p:cNvPr>
          <p:cNvSpPr>
            <a:spLocks noGrp="1"/>
          </p:cNvSpPr>
          <p:nvPr/>
        </p:nvSpPr>
        <p:spPr>
          <a:xfrm>
            <a:off x="9658350" y="63246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Choose Excel sheet manually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7CC15A4C-9E66-4EEF-B0BE-FBA4D453DFD0}"/>
              </a:ext>
            </a:extLst>
          </p:cNvPr>
          <p:cNvSpPr>
            <a:spLocks noGrp="1"/>
          </p:cNvSpPr>
          <p:nvPr/>
        </p:nvSpPr>
        <p:spPr>
          <a:xfrm>
            <a:off x="9391650" y="68884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FA39B"/>
          </a:solidFill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4A85B11-F710-4638-95A4-A249CD3D6701}"/>
              </a:ext>
            </a:extLst>
          </p:cNvPr>
          <p:cNvSpPr>
            <a:spLocks noGrp="1"/>
          </p:cNvSpPr>
          <p:nvPr/>
        </p:nvSpPr>
        <p:spPr>
          <a:xfrm>
            <a:off x="9658350" y="6896100"/>
            <a:ext cx="7715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More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2760595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DocSecurity>0</DocSecurity>
  <PresentationFormat>Произвольный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Житникова Наталья Николаевна</cp:lastModifiedBy>
  <cp:revision>1</cp:revision>
  <dcterms:created xsi:type="dcterms:W3CDTF">2026-05-07T11:13:45Z</dcterms:created>
  <dcterms:modified xsi:type="dcterms:W3CDTF">2026-05-10T10:10:29Z</dcterms:modified>
</cp:coreProperties>
</file>